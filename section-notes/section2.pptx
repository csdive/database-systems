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8" r:id="rId2"/>
    <p:sldId id="365" r:id="rId3"/>
    <p:sldId id="393" r:id="rId4"/>
    <p:sldId id="394" r:id="rId5"/>
    <p:sldId id="396" r:id="rId6"/>
    <p:sldId id="395" r:id="rId7"/>
    <p:sldId id="397" r:id="rId8"/>
    <p:sldId id="398" r:id="rId9"/>
    <p:sldId id="399" r:id="rId10"/>
    <p:sldId id="400" r:id="rId11"/>
    <p:sldId id="401" r:id="rId12"/>
    <p:sldId id="402" r:id="rId13"/>
    <p:sldId id="403" r:id="rId14"/>
    <p:sldId id="404" r:id="rId15"/>
    <p:sldId id="405" r:id="rId16"/>
    <p:sldId id="406" r:id="rId17"/>
    <p:sldId id="407" r:id="rId18"/>
    <p:sldId id="408" r:id="rId19"/>
    <p:sldId id="40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01761A8-6017-4C05-A3E2-BE01D5233BCB}">
          <p14:sldIdLst>
            <p14:sldId id="258"/>
            <p14:sldId id="365"/>
            <p14:sldId id="393"/>
            <p14:sldId id="394"/>
            <p14:sldId id="396"/>
            <p14:sldId id="395"/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424" userDrawn="1">
          <p15:clr>
            <a:srgbClr val="A4A3A4"/>
          </p15:clr>
        </p15:guide>
        <p15:guide id="2" pos="3984" userDrawn="1">
          <p15:clr>
            <a:srgbClr val="A4A3A4"/>
          </p15:clr>
        </p15:guide>
        <p15:guide id="3" pos="58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FEE694A-C7CA-9CA0-6B18-B493EEAD6E6F}" name="AbdElrahman Ahmed Rabea" initials="ع" userId="S::AbdoRabei@std.mans.edu.eg::07f03c0e-7771-45d6-9a1e-c1156021a6b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1C5"/>
    <a:srgbClr val="008EF8"/>
    <a:srgbClr val="CBEEFB"/>
    <a:srgbClr val="5FBBFF"/>
    <a:srgbClr val="E7E7E7"/>
    <a:srgbClr val="333333"/>
    <a:srgbClr val="F0F0F0"/>
    <a:srgbClr val="2CA5FF"/>
    <a:srgbClr val="005492"/>
    <a:srgbClr val="0036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17" autoAdjust="0"/>
    <p:restoredTop sz="75294" autoAdjust="0"/>
  </p:normalViewPr>
  <p:slideViewPr>
    <p:cSldViewPr snapToGrid="0">
      <p:cViewPr varScale="1">
        <p:scale>
          <a:sx n="58" d="100"/>
          <a:sy n="58" d="100"/>
        </p:scale>
        <p:origin x="1282" y="67"/>
      </p:cViewPr>
      <p:guideLst>
        <p:guide orient="horz" pos="2424"/>
        <p:guide pos="3984"/>
        <p:guide pos="583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2333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9E43220-F0E2-84AD-4C61-95CB6436EED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97380-C72F-E14D-D537-D4C84044240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BB349-8A74-48D4-9B2C-6B7307B63146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32D4D5-9E91-CAB3-23F7-072ACD2FD45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E920F1-7E5E-2C26-6BF6-F39EDB4802C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7C5971-E361-4E9E-81FF-7A7FA42F6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1938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9D0770-9BF3-4E0C-912C-19DB68D8701C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4FB2C2-2FFC-4004-9739-836BE6728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827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9ED0A-FBFF-0548-E16C-1E9F07921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82EF11-8C24-5930-6822-C2B5BBDA04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517B97-27EB-59E2-418B-111066D68F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9E3FB-F0D2-2CBA-4D3F-61A027B4F6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FB2C2-2FFC-4004-9739-836BE6728BB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8927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66897-99F7-E4A3-7DEA-D360BBE68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7B50C2-9FAC-B053-649A-771F9E1339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C0105-FE26-64D8-C53B-D8EC684C03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97E84-67CB-04AA-E773-FA2087E425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FB2C2-2FFC-4004-9739-836BE6728BB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595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584B4-7AB1-630B-B774-355869688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D5C0D6-199F-E510-3E88-7C23F95D22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597CC1-79E2-8E12-07A0-0939FA6134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47EB7-672D-50B7-C5B6-4215EBBAB7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FB2C2-2FFC-4004-9739-836BE6728BB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701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62787-2CB9-A7FE-1695-750A2DEA9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CB92AC-CC41-DE8E-1633-67660F35CE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1FE3A7-D574-8979-D9A2-F102B8D18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/>
              <a:t>Benefits of key: 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dirty="0"/>
              <a:t>1. to identify certain tuple to make query of it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dirty="0"/>
              <a:t>2. database system build special index structure for this key (for efficiency)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dirty="0"/>
              <a:t>3. if one relation wants to refer a tuple in another (there is no pointer here)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8FB67-13E0-1D81-8ED3-25F1A7E99B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FB2C2-2FFC-4004-9739-836BE6728BB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451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55395-5183-6FAE-6C62-A0D1F0F69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F18507-5884-4DE2-6CB7-175FEB72C6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7800E1-C8E7-7358-DEA3-1D327DFAF9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66DE8-596A-5AFA-BC61-8EB6FEF89E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FB2C2-2FFC-4004-9739-836BE6728BB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6524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18728-C7C3-D62F-517B-B8CFFDE34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C8334B-D386-B6B8-A09C-2492D35D59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E531EC-96D3-4F52-4DDF-58EA330E8A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96E60-72E9-0928-BC1C-A4143750F8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FB2C2-2FFC-4004-9739-836BE6728BB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1606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8836E-3BBC-676B-5EA5-59DAAD30A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C5A666-D302-8D7D-EE2F-E4369FCBED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8A054E-E3AC-F6F1-6738-26DC01331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1288E-2721-7C3C-FE55-366833088F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FB2C2-2FFC-4004-9739-836BE6728BB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0566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837E9-ADAF-92CA-13FA-E4E270255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629AC-F4A6-6A90-F0AE-A6441B1154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218B87-73BB-BB13-4425-91B1456BD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9D3CB-F79B-F6F3-D2C8-359841486E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FB2C2-2FFC-4004-9739-836BE6728BB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8892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06726-2B3F-5278-5966-A07F7CDF4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D61539-7B58-A4DB-9249-967F43BC87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D9AEC4-2311-D16B-AD7C-3B67AE689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0616C-9306-0A0E-822F-06509AEB8D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FB2C2-2FFC-4004-9739-836BE6728BB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0581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EB345-B8F5-7451-163C-BB1BC417B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2E560A-0B24-73A7-5A01-F82323242B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9DED35-AF0F-9193-C920-10A12B7D4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C3469-D2DF-9B52-A9B2-F483A48C7F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FB2C2-2FFC-4004-9739-836BE6728BB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7859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8A9B4-171A-E493-4193-D8E148487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02C98E-18D8-218C-0C3E-CDDE8C99A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6956B4-0F29-39D6-8FCF-D31B6A260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88FB9-0EB3-D05E-C82C-76CF1781C2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FB2C2-2FFC-4004-9739-836BE6728BB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5723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BFA61-6253-7F91-5375-8D1BB1646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E9954F-2219-8A45-0AFF-858A98DAB6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7D6956-54B6-D616-64B7-257C462E3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C9E63-8A66-D922-C68A-F3DFCD543D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FB2C2-2FFC-4004-9739-836BE6728BB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2631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1244A-3B24-F647-983C-2D62B6372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13138A-6F32-CDD7-E47D-CB25A1B54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5C305E-5706-1DCE-4C77-E83DC415A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9D9F95-7B1A-C9B4-E72A-A0F7DD89B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FB2C2-2FFC-4004-9739-836BE6728BB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375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42E03-238C-8F08-4E18-D1F9DD9E4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96E6C9-6CC3-4DA5-AE6B-85BA268111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94D77C-E9F3-D4FB-621B-C659DFB93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F25FB0-9BA2-1562-0BDA-73C81FBD33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FB2C2-2FFC-4004-9739-836BE6728BB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2366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4D493-C415-CAEF-027F-12C246BD6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AEBF88-BF10-2176-39C2-C5E184AA7F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F56E14-2EF2-7B5C-B0EC-80B327E06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8F43D-EF2B-C104-EE62-14A5274D96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FB2C2-2FFC-4004-9739-836BE6728BB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262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36DF2-0B47-7AFA-CED2-4F2252D61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B17598-5A58-017D-646F-778359930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75E4C9-69BD-E57E-734D-AA4814AB0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F0B04-D7B4-81E2-F210-B0CB2E86C0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FB2C2-2FFC-4004-9739-836BE6728BB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3854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7B91C-0B8B-1BA7-8A27-BD9F7FF1A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EF1D53-D4B0-6235-0835-417486547F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FA7963-D0C0-42D5-C619-9DB5C3667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DF508-8D2E-6A25-EDBA-2C89EABDA7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FB2C2-2FFC-4004-9739-836BE6728BB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9846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59780-3EE6-4896-B569-85D382932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BA195B-8DD9-C424-78AA-6A8851541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B3846-76AD-D503-C5EE-22CBF6058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3068F-D45F-A4C7-B2D2-13CDB86F3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FB2C2-2FFC-4004-9739-836BE6728BB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126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F3C95-3E42-782E-C280-4DA3E3DFD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C2864D-E726-3A38-CFD0-FEA4128669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71252-806E-BCFE-E5D7-251CAC792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30AE-2CF8-4141-A71C-0447601936FA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394D2-6A17-40B0-5BF7-7EFE876ED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DE7CB-BFE0-775D-9458-B4E7CB36E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638AF-BB9A-4916-B569-BAAD3E480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948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0BAE5-1861-C296-587B-E28E42014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99E11-30CB-AE95-09F1-4161C667F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B4116-C4F3-7DB3-3581-6D64F69CF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30AE-2CF8-4141-A71C-0447601936FA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BBE42-BED0-1290-6FFA-0E1B33FD5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7EE47-08AE-680E-B40A-5D9398966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638AF-BB9A-4916-B569-BAAD3E480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066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6F381-F697-2951-9667-E27800C9C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83625-0EBF-EC26-04D4-951C4B167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9BA44-51F3-6EA0-0B40-741A04F1D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30AE-2CF8-4141-A71C-0447601936FA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71DEB-5CFD-1F28-ADAC-F843F8B6E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5AFD3-A041-D214-CDFE-5C65A186E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638AF-BB9A-4916-B569-BAAD3E480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433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07544-9CA1-CADB-575A-12EF26A9B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EC53D-6A38-5D6C-6CD4-B38D258B9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BD54D2-B96A-C531-0CF2-DA3A79A978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5CC2D4-8E81-ACE9-FD98-2704D536A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30AE-2CF8-4141-A71C-0447601936FA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914D11-4A27-D436-D0C5-A9C168410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109784-BBB7-5C43-3E25-8FAA2CEAC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638AF-BB9A-4916-B569-BAAD3E480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238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E7E99-990B-5A48-91BF-9E82DA401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2CA9B-D3E3-0554-59B8-2B38EA4D8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8875B9-7986-9FED-6DC8-5187CACEE7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863435-ADEE-0BBC-0D9C-4150D9630C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3D050F-02D0-C2A1-2E94-83E46D91C6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D998C7-4870-DE10-BE32-6F1B5FB02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30AE-2CF8-4141-A71C-0447601936FA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CA0E34-DF4C-353A-2008-94F2F5716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D1EAB8-99AA-9468-14FE-41654F8C4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638AF-BB9A-4916-B569-BAAD3E480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873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77FB7-0B95-C1A5-6C39-54A2E9953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F69B4A-032B-1420-76C6-AC055770E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30AE-2CF8-4141-A71C-0447601936FA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89BECD-5184-C34C-8A28-7D294A97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DACFD7-61C0-AD77-8FC7-453BF1881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638AF-BB9A-4916-B569-BAAD3E480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301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E7A1B-94A9-DE27-6B27-B8C557FB1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30AE-2CF8-4141-A71C-0447601936FA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48A37F-1F38-4F50-CBF7-923D93065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130D7-0CB1-AEB4-87DD-054F96C17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638AF-BB9A-4916-B569-BAAD3E480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962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A3887-F573-33AD-0F60-A18E9E7CB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DECFF-E26C-BE4E-5A7D-8130A5BA3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D01645-F76D-CCCF-382E-27F029AF5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7823D-EB1C-12ED-49F6-434ECFDE8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30AE-2CF8-4141-A71C-0447601936FA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FE0640-BD6B-1BB8-B330-DFA161190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5EF297-BA21-0447-2757-8B6AC9603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638AF-BB9A-4916-B569-BAAD3E480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532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D13C1-FAE5-79A0-108A-CCE7B5414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94871A-476A-6D33-4661-9D7C7E5DBF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3D2EB-6AAF-91F1-8263-602ADA95E4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ADEC00-A947-3F41-E295-15C884C57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30AE-2CF8-4141-A71C-0447601936FA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B8A621-82BA-05B3-F2B5-667B4D06D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02FC7-72F6-6FF3-692B-E3799DC3E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638AF-BB9A-4916-B569-BAAD3E480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301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75224-3944-1BDD-DD42-29E19FCCF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16E6DD-16AD-DB7A-C7FE-DE5069CD80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8C85A-A9F9-FECF-BF0C-36D759BB0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30AE-2CF8-4141-A71C-0447601936FA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4239E-7911-8B96-C0A3-F6AC13E8A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A47AC-4295-14FF-E5B6-3BF3217EE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638AF-BB9A-4916-B569-BAAD3E480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377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6F007B-BCDC-A103-CFCD-2BFA726414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FBC115-CA57-C8C8-EA5B-D3C2E5368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2C273-1DCB-F464-5E5C-8055725D7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30AE-2CF8-4141-A71C-0447601936FA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72921-B3DC-B4B9-7C33-09DF9B1F6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22A1C-5CD3-521F-29A1-0F41D3236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638AF-BB9A-4916-B569-BAAD3E480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953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79B663-9E26-63F8-54B9-F48F78D81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A968FE-965B-B75C-30FD-614F6ED1A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9DBB1-4F96-A194-EFA0-2B11BB6F90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330AE-2CF8-4141-A71C-0447601936FA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B99A7-DAD9-3A10-7AD9-4E4666889A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1479D-87B3-1883-F626-A51C45714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1638AF-BB9A-4916-B569-BAAD3E480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661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D8237-7ECE-0DF8-7C6C-0A3647C75D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78618"/>
            <a:ext cx="9144000" cy="939483"/>
          </a:xfrm>
        </p:spPr>
        <p:txBody>
          <a:bodyPr>
            <a:normAutofit/>
          </a:bodyPr>
          <a:lstStyle/>
          <a:p>
            <a:r>
              <a:rPr lang="en-US" sz="4800" dirty="0"/>
              <a:t>Section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ABFB04-74FB-3221-A569-A4F720E41E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18101"/>
            <a:ext cx="9144000" cy="571659"/>
          </a:xfrm>
        </p:spPr>
        <p:txBody>
          <a:bodyPr>
            <a:normAutofit/>
          </a:bodyPr>
          <a:lstStyle/>
          <a:p>
            <a:r>
              <a:rPr lang="en-US" sz="2800" dirty="0"/>
              <a:t>Ch2. Introduction to the relational model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D858D64-E6D1-741A-94A0-5724D81838AC}"/>
              </a:ext>
            </a:extLst>
          </p:cNvPr>
          <p:cNvSpPr txBox="1">
            <a:spLocks/>
          </p:cNvSpPr>
          <p:nvPr/>
        </p:nvSpPr>
        <p:spPr>
          <a:xfrm>
            <a:off x="939800" y="2468324"/>
            <a:ext cx="9144000" cy="2683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Slide contents follow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 System Concepts, 7th edition.</a:t>
            </a:r>
          </a:p>
          <a:p>
            <a:pPr>
              <a:buFont typeface="Arial" panose="020B0604020202020204" pitchFamily="34" charset="0"/>
              <a:buNone/>
            </a:pPr>
            <a:endParaRPr lang="en-US" sz="2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Prepared by: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2700" dirty="0"/>
              <a:t>AbdElrahman Rabea, Eng.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36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78019-0470-A77F-32C7-FD1E60DF5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8116F0-0C79-E5F3-1F92-169970C31AC0}"/>
              </a:ext>
            </a:extLst>
          </p:cNvPr>
          <p:cNvSpPr/>
          <p:nvPr/>
        </p:nvSpPr>
        <p:spPr>
          <a:xfrm>
            <a:off x="0" y="0"/>
            <a:ext cx="12192000" cy="843280"/>
          </a:xfrm>
          <a:prstGeom prst="rect">
            <a:avLst/>
          </a:prstGeom>
          <a:gradFill>
            <a:gsLst>
              <a:gs pos="0">
                <a:srgbClr val="008EF8"/>
              </a:gs>
              <a:gs pos="100000">
                <a:srgbClr val="5FBBF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r>
              <a:rPr lang="en-US" sz="40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Relational model</a:t>
            </a:r>
          </a:p>
        </p:txBody>
      </p:sp>
      <p:sp>
        <p:nvSpPr>
          <p:cNvPr id="117" name="Content Placeholder 4">
            <a:extLst>
              <a:ext uri="{FF2B5EF4-FFF2-40B4-BE49-F238E27FC236}">
                <a16:creationId xmlns:a16="http://schemas.microsoft.com/office/drawing/2014/main" id="{EDCF0484-32FA-94EC-A93A-BC12BBC246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1979" y="945574"/>
            <a:ext cx="6138455" cy="5694218"/>
          </a:xfrm>
          <a:solidFill>
            <a:srgbClr val="E7E7E7"/>
          </a:solidFill>
          <a:ln>
            <a:noFill/>
          </a:ln>
          <a:effectLst>
            <a:softEdge rad="0"/>
          </a:effectLst>
        </p:spPr>
        <p:txBody>
          <a:bodyPr lIns="182880" tIns="182880"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relational data model is the foundation of Relational Database Management Systems (RDBMS). 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benefits:</a:t>
            </a:r>
          </a:p>
          <a:p>
            <a:pPr marL="860425" lvl="1" indent="-403225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Widely Used &amp; Standardized: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imbusRomDOT-Reg"/>
              </a:rPr>
              <a:t> relational model remains the primary data model for commercial data-processing applications. </a:t>
            </a:r>
            <a:endParaRPr lang="en-US" sz="1400" dirty="0"/>
          </a:p>
          <a:p>
            <a:pPr marL="860425" lvl="1" indent="-403225">
              <a:spcAft>
                <a:spcPts val="600"/>
              </a:spcAft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Simple &amp; Structured – Data is described in clear table-based formats, making it easy to understand and manage.</a:t>
            </a:r>
          </a:p>
          <a:p>
            <a:pPr marL="860425" lvl="1" indent="-403225">
              <a:spcAft>
                <a:spcPts val="600"/>
              </a:spcAft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Data Integrity &amp; Accuracy – Ensures consistency with constraints (Primary Key, Foreign Key, Unique) and eliminates redundancy.</a:t>
            </a:r>
          </a:p>
          <a:p>
            <a:pPr marL="860425" lvl="1" indent="-403225">
              <a:spcAft>
                <a:spcPts val="600"/>
              </a:spcAft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Efficient &amp; Scalable – Optimized implementations support indexing, large datasets, and concurrent access.</a:t>
            </a:r>
          </a:p>
          <a:p>
            <a:pPr marL="860425" lvl="1" indent="-403225">
              <a:spcAft>
                <a:spcPts val="600"/>
              </a:spcAft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Flexible &amp; Independent – Logical and physical storage are separate, allowing schema evolution without affecting applications.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361C174-83F2-9046-C302-286BECFDB7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83219" y="2239885"/>
            <a:ext cx="5183689" cy="3105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34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F9681-118A-0338-12C1-03DCA626E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ABA12E5-DAE6-5607-06A7-A47BC42792BA}"/>
              </a:ext>
            </a:extLst>
          </p:cNvPr>
          <p:cNvSpPr/>
          <p:nvPr/>
        </p:nvSpPr>
        <p:spPr>
          <a:xfrm>
            <a:off x="0" y="0"/>
            <a:ext cx="12192000" cy="843280"/>
          </a:xfrm>
          <a:prstGeom prst="rect">
            <a:avLst/>
          </a:prstGeom>
          <a:gradFill>
            <a:gsLst>
              <a:gs pos="0">
                <a:srgbClr val="008EF8"/>
              </a:gs>
              <a:gs pos="100000">
                <a:srgbClr val="5FBBF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r>
              <a:rPr lang="en-US" sz="40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Relational model structure</a:t>
            </a:r>
          </a:p>
        </p:txBody>
      </p:sp>
      <p:sp>
        <p:nvSpPr>
          <p:cNvPr id="117" name="Content Placeholder 4">
            <a:extLst>
              <a:ext uri="{FF2B5EF4-FFF2-40B4-BE49-F238E27FC236}">
                <a16:creationId xmlns:a16="http://schemas.microsoft.com/office/drawing/2014/main" id="{FCFB049D-9176-56B6-25ED-EC0D19DE71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1979" y="945574"/>
            <a:ext cx="5642957" cy="5694218"/>
          </a:xfrm>
          <a:solidFill>
            <a:srgbClr val="E7E7E7"/>
          </a:solidFill>
          <a:ln>
            <a:noFill/>
          </a:ln>
          <a:effectLst>
            <a:softEdge rad="0"/>
          </a:effectLst>
        </p:spPr>
        <p:txBody>
          <a:bodyPr lIns="182880" tIns="182880">
            <a:no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relational database consists of set of named relations (tables)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relation has a set of named attributes (columns)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tuple (row) has a value for each attribute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attribute has a domain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 is t</a:t>
            </a:r>
            <a:r>
              <a:rPr lang="en-US" altLang="en-US" sz="2000" dirty="0"/>
              <a:t>he set of allowed values for each attribute. Ex. dept-name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special value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is a member of every domain. Indicated that the value is “unknown”.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null value causes complications in the definition of many operations.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05" name="object 4">
            <a:extLst>
              <a:ext uri="{FF2B5EF4-FFF2-40B4-BE49-F238E27FC236}">
                <a16:creationId xmlns:a16="http://schemas.microsoft.com/office/drawing/2014/main" id="{FE17136C-151A-144B-1C70-F86E38B83A24}"/>
              </a:ext>
            </a:extLst>
          </p:cNvPr>
          <p:cNvGraphicFramePr>
            <a:graphicFrameLocks noGrp="1"/>
          </p:cNvGraphicFramePr>
          <p:nvPr/>
        </p:nvGraphicFramePr>
        <p:xfrm>
          <a:off x="6754942" y="1988265"/>
          <a:ext cx="3759806" cy="37758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3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9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48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36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ID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00" i="1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00" i="1" spc="-2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dept</a:t>
                      </a:r>
                      <a:r>
                        <a:rPr sz="1600" i="1" spc="-4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i="1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00" i="1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salary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292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22222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Einstein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Physics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95000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711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12121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2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Wu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Finance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90000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711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32343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El</a:t>
                      </a:r>
                      <a:r>
                        <a:rPr sz="1400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Said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History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60000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711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45565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Katz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Comp.</a:t>
                      </a:r>
                      <a:r>
                        <a:rPr sz="1400" spc="-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Sci.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75000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711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98345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2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Kim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Elec.</a:t>
                      </a:r>
                      <a:r>
                        <a:rPr sz="1400" spc="-2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Eng.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80000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64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76766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Crick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Biology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72000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64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10101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Srinivasan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Comp.</a:t>
                      </a:r>
                      <a:r>
                        <a:rPr sz="1400" spc="-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Sci.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65000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711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58583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Califieri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History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62000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5711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83821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Brandt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Comp.</a:t>
                      </a:r>
                      <a:r>
                        <a:rPr sz="1400" spc="-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Sci.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92000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5711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15151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Mozart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Music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40000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5711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33456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Gold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Physics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87000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5937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76543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Singh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Finance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80000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06" name="TextBox 505">
            <a:extLst>
              <a:ext uri="{FF2B5EF4-FFF2-40B4-BE49-F238E27FC236}">
                <a16:creationId xmlns:a16="http://schemas.microsoft.com/office/drawing/2014/main" id="{64F68CAD-A4FA-54C1-B6C9-AECEAA5A28BB}"/>
              </a:ext>
            </a:extLst>
          </p:cNvPr>
          <p:cNvSpPr txBox="1"/>
          <p:nvPr/>
        </p:nvSpPr>
        <p:spPr>
          <a:xfrm>
            <a:off x="6656613" y="1728563"/>
            <a:ext cx="1769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instructor relation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4C45BEC2-CBB9-25B4-5F11-DCA7E3F2CFE9}"/>
              </a:ext>
            </a:extLst>
          </p:cNvPr>
          <p:cNvSpPr txBox="1"/>
          <p:nvPr/>
        </p:nvSpPr>
        <p:spPr>
          <a:xfrm>
            <a:off x="9696521" y="1305826"/>
            <a:ext cx="17721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Attributes (columns)</a:t>
            </a: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B5F81862-3BC6-3F09-9A55-FEB70882065A}"/>
              </a:ext>
            </a:extLst>
          </p:cNvPr>
          <p:cNvSpPr txBox="1"/>
          <p:nvPr/>
        </p:nvSpPr>
        <p:spPr>
          <a:xfrm>
            <a:off x="10718175" y="2690895"/>
            <a:ext cx="12071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Tuples (rows)</a:t>
            </a:r>
          </a:p>
        </p:txBody>
      </p:sp>
      <p:cxnSp>
        <p:nvCxnSpPr>
          <p:cNvPr id="511" name="Straight Arrow Connector 510">
            <a:extLst>
              <a:ext uri="{FF2B5EF4-FFF2-40B4-BE49-F238E27FC236}">
                <a16:creationId xmlns:a16="http://schemas.microsoft.com/office/drawing/2014/main" id="{6953D747-1BFB-3303-FFDC-4551C4CB395C}"/>
              </a:ext>
            </a:extLst>
          </p:cNvPr>
          <p:cNvCxnSpPr>
            <a:cxnSpLocks/>
            <a:stCxn id="509" idx="1"/>
          </p:cNvCxnSpPr>
          <p:nvPr/>
        </p:nvCxnSpPr>
        <p:spPr>
          <a:xfrm flipH="1">
            <a:off x="10401300" y="2844784"/>
            <a:ext cx="3168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Straight Arrow Connector 512">
            <a:extLst>
              <a:ext uri="{FF2B5EF4-FFF2-40B4-BE49-F238E27FC236}">
                <a16:creationId xmlns:a16="http://schemas.microsoft.com/office/drawing/2014/main" id="{E6400EAA-016E-00ED-DD58-CB40C9A25B1B}"/>
              </a:ext>
            </a:extLst>
          </p:cNvPr>
          <p:cNvCxnSpPr>
            <a:cxnSpLocks/>
            <a:stCxn id="509" idx="1"/>
          </p:cNvCxnSpPr>
          <p:nvPr/>
        </p:nvCxnSpPr>
        <p:spPr>
          <a:xfrm flipH="1" flipV="1">
            <a:off x="10401300" y="2529840"/>
            <a:ext cx="316875" cy="314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Straight Arrow Connector 515">
            <a:extLst>
              <a:ext uri="{FF2B5EF4-FFF2-40B4-BE49-F238E27FC236}">
                <a16:creationId xmlns:a16="http://schemas.microsoft.com/office/drawing/2014/main" id="{CCF1803C-C5F1-9DAC-2856-3A8DDC57A114}"/>
              </a:ext>
            </a:extLst>
          </p:cNvPr>
          <p:cNvCxnSpPr>
            <a:cxnSpLocks/>
            <a:stCxn id="509" idx="1"/>
          </p:cNvCxnSpPr>
          <p:nvPr/>
        </p:nvCxnSpPr>
        <p:spPr>
          <a:xfrm flipH="1">
            <a:off x="10401300" y="2844784"/>
            <a:ext cx="316875" cy="2413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Straight Arrow Connector 518">
            <a:extLst>
              <a:ext uri="{FF2B5EF4-FFF2-40B4-BE49-F238E27FC236}">
                <a16:creationId xmlns:a16="http://schemas.microsoft.com/office/drawing/2014/main" id="{E002350A-AAA3-CB72-53B2-3E08FAA28DBE}"/>
              </a:ext>
            </a:extLst>
          </p:cNvPr>
          <p:cNvCxnSpPr>
            <a:cxnSpLocks/>
            <a:stCxn id="507" idx="2"/>
          </p:cNvCxnSpPr>
          <p:nvPr/>
        </p:nvCxnSpPr>
        <p:spPr>
          <a:xfrm flipH="1">
            <a:off x="10164009" y="1613603"/>
            <a:ext cx="418588" cy="375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Straight Arrow Connector 521">
            <a:extLst>
              <a:ext uri="{FF2B5EF4-FFF2-40B4-BE49-F238E27FC236}">
                <a16:creationId xmlns:a16="http://schemas.microsoft.com/office/drawing/2014/main" id="{C08F82F6-8B15-B6A4-BF5E-23490EC4EEE8}"/>
              </a:ext>
            </a:extLst>
          </p:cNvPr>
          <p:cNvCxnSpPr>
            <a:cxnSpLocks/>
            <a:stCxn id="507" idx="2"/>
          </p:cNvCxnSpPr>
          <p:nvPr/>
        </p:nvCxnSpPr>
        <p:spPr>
          <a:xfrm flipH="1">
            <a:off x="9167711" y="1613603"/>
            <a:ext cx="1414886" cy="375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Straight Arrow Connector 525">
            <a:extLst>
              <a:ext uri="{FF2B5EF4-FFF2-40B4-BE49-F238E27FC236}">
                <a16:creationId xmlns:a16="http://schemas.microsoft.com/office/drawing/2014/main" id="{A4F111C5-300A-5572-F233-EF41B148D3B7}"/>
              </a:ext>
            </a:extLst>
          </p:cNvPr>
          <p:cNvCxnSpPr>
            <a:cxnSpLocks/>
            <a:stCxn id="507" idx="2"/>
          </p:cNvCxnSpPr>
          <p:nvPr/>
        </p:nvCxnSpPr>
        <p:spPr>
          <a:xfrm flipH="1">
            <a:off x="8171413" y="1613603"/>
            <a:ext cx="2411184" cy="375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0548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7" grpId="0"/>
      <p:bldP spid="50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F1E00-C909-FF2D-7931-83B1A076C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A64983-1F45-CD25-7150-A253E61FD6B7}"/>
              </a:ext>
            </a:extLst>
          </p:cNvPr>
          <p:cNvSpPr/>
          <p:nvPr/>
        </p:nvSpPr>
        <p:spPr>
          <a:xfrm>
            <a:off x="0" y="0"/>
            <a:ext cx="12192000" cy="843280"/>
          </a:xfrm>
          <a:prstGeom prst="rect">
            <a:avLst/>
          </a:prstGeom>
          <a:gradFill>
            <a:gsLst>
              <a:gs pos="0">
                <a:srgbClr val="008EF8"/>
              </a:gs>
              <a:gs pos="100000">
                <a:srgbClr val="5FBBF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r>
              <a:rPr lang="en-US" sz="40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 Schema vs instances</a:t>
            </a:r>
          </a:p>
        </p:txBody>
      </p:sp>
      <p:sp>
        <p:nvSpPr>
          <p:cNvPr id="117" name="Content Placeholder 4">
            <a:extLst>
              <a:ext uri="{FF2B5EF4-FFF2-40B4-BE49-F238E27FC236}">
                <a16:creationId xmlns:a16="http://schemas.microsoft.com/office/drawing/2014/main" id="{AAF9E3F8-7639-A466-09DA-ABB35D92FF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1979" y="945574"/>
            <a:ext cx="5642957" cy="5694218"/>
          </a:xfrm>
          <a:solidFill>
            <a:srgbClr val="E7E7E7"/>
          </a:solidFill>
          <a:ln>
            <a:noFill/>
          </a:ln>
          <a:effectLst>
            <a:softEdge rad="0"/>
          </a:effectLst>
        </p:spPr>
        <p:txBody>
          <a:bodyPr lIns="182880" tIns="182880">
            <a:noAutofit/>
          </a:bodyPr>
          <a:lstStyle/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 schema -- is the logical structure of the database.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 instance -- is a snapshot of the data in the database at a given instant in time.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pPr lvl="1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schema:   instructor (ID, name,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dept_name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salary)</a:t>
            </a:r>
          </a:p>
        </p:txBody>
      </p:sp>
      <p:graphicFrame>
        <p:nvGraphicFramePr>
          <p:cNvPr id="505" name="object 4">
            <a:extLst>
              <a:ext uri="{FF2B5EF4-FFF2-40B4-BE49-F238E27FC236}">
                <a16:creationId xmlns:a16="http://schemas.microsoft.com/office/drawing/2014/main" id="{EF1326CF-DA73-B6E7-7732-7497FE771BD2}"/>
              </a:ext>
            </a:extLst>
          </p:cNvPr>
          <p:cNvGraphicFramePr>
            <a:graphicFrameLocks noGrp="1"/>
          </p:cNvGraphicFramePr>
          <p:nvPr/>
        </p:nvGraphicFramePr>
        <p:xfrm>
          <a:off x="6754942" y="1988265"/>
          <a:ext cx="3759806" cy="37758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3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9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48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36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ID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00" i="1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00" i="1" spc="-2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dept</a:t>
                      </a:r>
                      <a:r>
                        <a:rPr sz="1600" i="1" spc="-4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i="1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00" i="1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salary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292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22222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Einstein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Physics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95000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711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12121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2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Wu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Finance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90000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711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32343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El</a:t>
                      </a:r>
                      <a:r>
                        <a:rPr sz="1400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Said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History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60000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711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45565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Katz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Comp.</a:t>
                      </a:r>
                      <a:r>
                        <a:rPr sz="1400" spc="-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Sci.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75000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711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98345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2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Kim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Elec.</a:t>
                      </a:r>
                      <a:r>
                        <a:rPr sz="1400" spc="-2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Eng.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80000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64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76766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Crick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Biology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72000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64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10101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Srinivasan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Comp.</a:t>
                      </a:r>
                      <a:r>
                        <a:rPr sz="1400" spc="-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Sci.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65000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711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58583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Califieri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History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62000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5711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83821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Brandt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Comp.</a:t>
                      </a:r>
                      <a:r>
                        <a:rPr sz="1400" spc="-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Sci.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92000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5711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15151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Mozart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Music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40000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5711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33456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Gold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Physics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87000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5937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76543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Singh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Finance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80000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06" name="TextBox 505">
            <a:extLst>
              <a:ext uri="{FF2B5EF4-FFF2-40B4-BE49-F238E27FC236}">
                <a16:creationId xmlns:a16="http://schemas.microsoft.com/office/drawing/2014/main" id="{7D39ABE9-DE18-C1D3-E0C2-4B9F2ABB70EE}"/>
              </a:ext>
            </a:extLst>
          </p:cNvPr>
          <p:cNvSpPr txBox="1"/>
          <p:nvPr/>
        </p:nvSpPr>
        <p:spPr>
          <a:xfrm>
            <a:off x="8160420" y="1649711"/>
            <a:ext cx="9488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instance</a:t>
            </a:r>
          </a:p>
        </p:txBody>
      </p:sp>
    </p:spTree>
    <p:extLst>
      <p:ext uri="{BB962C8B-B14F-4D97-AF65-F5344CB8AC3E}">
        <p14:creationId xmlns:p14="http://schemas.microsoft.com/office/powerpoint/2010/main" val="3461979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8138C-54BD-D1E6-202A-068C76FD3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13C9C8-FFC4-5D22-05DB-98CDF3201DBB}"/>
              </a:ext>
            </a:extLst>
          </p:cNvPr>
          <p:cNvSpPr/>
          <p:nvPr/>
        </p:nvSpPr>
        <p:spPr>
          <a:xfrm>
            <a:off x="0" y="0"/>
            <a:ext cx="12192000" cy="843280"/>
          </a:xfrm>
          <a:prstGeom prst="rect">
            <a:avLst/>
          </a:prstGeom>
          <a:gradFill>
            <a:gsLst>
              <a:gs pos="0">
                <a:srgbClr val="008EF8"/>
              </a:gs>
              <a:gs pos="100000">
                <a:srgbClr val="5FBBF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r>
              <a:rPr lang="en-US" sz="40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 Schema vs instances</a:t>
            </a:r>
          </a:p>
        </p:txBody>
      </p:sp>
      <p:sp>
        <p:nvSpPr>
          <p:cNvPr id="117" name="Content Placeholder 4">
            <a:extLst>
              <a:ext uri="{FF2B5EF4-FFF2-40B4-BE49-F238E27FC236}">
                <a16:creationId xmlns:a16="http://schemas.microsoft.com/office/drawing/2014/main" id="{21296A25-4753-3F1F-1FF2-42DD4F8794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1979" y="945574"/>
            <a:ext cx="5642957" cy="5694218"/>
          </a:xfrm>
          <a:solidFill>
            <a:srgbClr val="E7E7E7"/>
          </a:solidFill>
          <a:ln>
            <a:noFill/>
          </a:ln>
          <a:effectLst>
            <a:softEdge rad="0"/>
          </a:effectLst>
        </p:spPr>
        <p:txBody>
          <a:bodyPr lIns="182880" tIns="182880">
            <a:noAutofit/>
          </a:bodyPr>
          <a:lstStyle/>
          <a:p>
            <a:pPr marL="0" lvl="1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attribute whose value is unique in each tuple</a:t>
            </a:r>
            <a:r>
              <a:rPr lang="ar-EG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 set of attributes whose combined values are unique</a:t>
            </a:r>
          </a:p>
          <a:p>
            <a:pPr marL="0" lvl="1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 key: key that is unique and can’t be null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Foreign-key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constrainst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Foreign-key constraints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enforce consistency between relations in a database.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dept_name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attribute in the instructor relation must correspond to an existing department in the department relation, that is No tuple in instructor should have 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dept_name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value that does not exist in department.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Given a tuple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instructor, there must be a corresponding tuple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department with the same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dept_name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value.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foreign-key constraint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attribute(s)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relation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r₁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the primary key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relation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r₂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ensures: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value of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each tuple of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r₁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must match a value of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some tuple of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r₂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foreign key (A)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belongs 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r₁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references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r₂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r₁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called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referencing relation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while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r₂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referenced relation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object 45">
            <a:extLst>
              <a:ext uri="{FF2B5EF4-FFF2-40B4-BE49-F238E27FC236}">
                <a16:creationId xmlns:a16="http://schemas.microsoft.com/office/drawing/2014/main" id="{844AC105-DB59-1787-CFA0-364B54FE9E02}"/>
              </a:ext>
            </a:extLst>
          </p:cNvPr>
          <p:cNvSpPr txBox="1"/>
          <p:nvPr/>
        </p:nvSpPr>
        <p:spPr>
          <a:xfrm>
            <a:off x="6579870" y="2519578"/>
            <a:ext cx="5356859" cy="254621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1744980">
              <a:lnSpc>
                <a:spcPct val="106100"/>
              </a:lnSpc>
              <a:spcBef>
                <a:spcPts val="155"/>
              </a:spcBef>
            </a:pPr>
            <a:r>
              <a:rPr lang="en-US" sz="1400" i="1" spc="-4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sz="1400" i="1" spc="-4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lassroom</a:t>
            </a:r>
            <a:r>
              <a:rPr lang="en-US" sz="1400" i="1" spc="-4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-4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sz="1400" i="1" spc="-4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building</a:t>
            </a:r>
            <a:r>
              <a:rPr sz="1400" spc="-4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spc="-40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room</a:t>
            </a:r>
            <a:r>
              <a:rPr sz="1400" i="1" u="sng" spc="6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spc="-20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</a:t>
            </a:r>
            <a:r>
              <a:rPr sz="1400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</a:t>
            </a:r>
            <a:r>
              <a:rPr sz="1400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endParaRPr lang="en-US" sz="1400" spc="-30" dirty="0">
              <a:solidFill>
                <a:srgbClr val="231F2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700" marR="1744980">
              <a:lnSpc>
                <a:spcPct val="106100"/>
              </a:lnSpc>
              <a:spcBef>
                <a:spcPts val="155"/>
              </a:spcBef>
            </a:pPr>
            <a:r>
              <a:rPr sz="1400" i="1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</a:t>
            </a:r>
            <a:r>
              <a:rPr sz="1400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sz="1400" i="1" u="sng" spc="-30" dirty="0" err="1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</a:t>
            </a:r>
            <a:r>
              <a:rPr lang="en-US" sz="1400" i="1" u="sng" spc="-30" dirty="0" err="1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_</a:t>
            </a:r>
            <a:r>
              <a:rPr sz="1400" i="1" u="sng" spc="-10" dirty="0" err="1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sz="1400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building</a:t>
            </a:r>
            <a:r>
              <a:rPr sz="1400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</a:t>
            </a:r>
            <a:r>
              <a:rPr sz="1400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endParaRPr lang="en-US" sz="1400" spc="-10" dirty="0">
              <a:solidFill>
                <a:srgbClr val="231F2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700" marR="1744980">
              <a:lnSpc>
                <a:spcPct val="106100"/>
              </a:lnSpc>
              <a:spcBef>
                <a:spcPts val="155"/>
              </a:spcBef>
            </a:pPr>
            <a:r>
              <a:rPr sz="1400" i="1" spc="-4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</a:t>
            </a:r>
            <a:r>
              <a:rPr sz="1400" spc="-4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sz="1400" i="1" u="sng" spc="-45" dirty="0" err="1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</a:t>
            </a:r>
            <a:r>
              <a:rPr lang="en-US" sz="1400" i="1" u="sng" spc="-10" dirty="0" err="1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_</a:t>
            </a:r>
            <a:r>
              <a:rPr sz="1400" i="1" u="sng" dirty="0" err="1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sz="140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4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  <a:r>
              <a:rPr sz="1400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4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 </a:t>
            </a:r>
            <a:r>
              <a:rPr sz="1400" i="1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sz="1400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4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credits</a:t>
            </a:r>
            <a:r>
              <a:rPr sz="1400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endParaRPr lang="en-US" sz="1400" spc="-10" dirty="0">
              <a:solidFill>
                <a:srgbClr val="231F2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700" marR="1744980">
              <a:lnSpc>
                <a:spcPct val="106100"/>
              </a:lnSpc>
              <a:spcBef>
                <a:spcPts val="155"/>
              </a:spcBef>
            </a:pPr>
            <a:r>
              <a:rPr lang="en-US" sz="1400" i="1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sz="1400" i="1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nstructor</a:t>
            </a:r>
            <a:r>
              <a:rPr sz="1400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sz="1100" i="1" u="sng" spc="-3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sz="1400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sz="1400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</a:t>
            </a:r>
            <a:r>
              <a:rPr sz="1400" i="1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sz="1400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salary</a:t>
            </a:r>
            <a:r>
              <a:rPr sz="1400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700">
              <a:lnSpc>
                <a:spcPts val="1295"/>
              </a:lnSpc>
            </a:pPr>
            <a:r>
              <a:rPr sz="1400" i="1" spc="-4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section</a:t>
            </a:r>
            <a:r>
              <a:rPr sz="1400" spc="-4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sz="1400" i="1" u="sng" spc="-40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</a:t>
            </a:r>
            <a:r>
              <a:rPr sz="1400" i="1" u="sng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id</a:t>
            </a:r>
            <a:r>
              <a:rPr sz="140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spc="-4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</a:t>
            </a:r>
            <a:r>
              <a:rPr sz="1400" i="1" u="sng" spc="-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sz="140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spc="-3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semester</a:t>
            </a:r>
            <a:r>
              <a:rPr sz="1400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sz="1400" i="1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</a:t>
            </a:r>
            <a:r>
              <a:rPr sz="1400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building</a:t>
            </a:r>
            <a:r>
              <a:rPr sz="1400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sz="1400" i="1" spc="-4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room</a:t>
            </a:r>
            <a:r>
              <a:rPr sz="1400" i="1" spc="-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</a:t>
            </a:r>
            <a:r>
              <a:rPr sz="1400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</a:t>
            </a:r>
            <a:r>
              <a:rPr sz="1400" i="1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slot</a:t>
            </a:r>
            <a:r>
              <a:rPr sz="1400" i="1" spc="-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sz="1400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700" marR="1750695">
              <a:lnSpc>
                <a:spcPct val="110000"/>
              </a:lnSpc>
            </a:pPr>
            <a:r>
              <a:rPr sz="1400" i="1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teaches</a:t>
            </a:r>
            <a:r>
              <a:rPr sz="1400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sz="1100" i="1" u="sng" spc="-3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sz="1400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spc="-50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</a:t>
            </a:r>
            <a:r>
              <a:rPr sz="1400" i="1" u="sng" spc="10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sz="140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spc="-4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</a:t>
            </a:r>
            <a:r>
              <a:rPr sz="1400" i="1" u="sng" spc="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sz="140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spc="-3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semester</a:t>
            </a:r>
            <a:r>
              <a:rPr sz="1400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</a:t>
            </a:r>
            <a:r>
              <a:rPr sz="1400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endParaRPr lang="en-US" sz="1400" spc="-20" dirty="0">
              <a:solidFill>
                <a:srgbClr val="231F2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700" marR="1750695">
              <a:lnSpc>
                <a:spcPct val="110000"/>
              </a:lnSpc>
            </a:pPr>
            <a:r>
              <a:rPr sz="1400" i="1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sz="1400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sz="1100" i="1" u="sng" spc="-20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sz="1400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5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sz="1400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5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 </a:t>
            </a:r>
            <a:r>
              <a:rPr sz="1400" i="1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sz="1400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5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</a:t>
            </a:r>
            <a:r>
              <a:rPr sz="1400" i="1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</a:t>
            </a:r>
            <a:r>
              <a:rPr sz="1400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700">
              <a:lnSpc>
                <a:spcPts val="1290"/>
              </a:lnSpc>
            </a:pPr>
            <a:r>
              <a:rPr sz="1400" i="1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takes</a:t>
            </a:r>
            <a:r>
              <a:rPr sz="1400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sz="1100" i="1" u="sng" spc="-20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sz="1400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spc="-50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</a:t>
            </a:r>
            <a:r>
              <a:rPr sz="1400" i="1" u="sng" spc="10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sz="140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spc="-4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</a:t>
            </a:r>
            <a:r>
              <a:rPr sz="1400" i="1" u="sng" spc="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sz="140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spc="-3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semester</a:t>
            </a:r>
            <a:r>
              <a:rPr sz="1400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</a:t>
            </a:r>
            <a:r>
              <a:rPr sz="1400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sz="1400" i="1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grade</a:t>
            </a:r>
            <a:r>
              <a:rPr sz="1400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700">
              <a:lnSpc>
                <a:spcPts val="1310"/>
              </a:lnSpc>
              <a:spcBef>
                <a:spcPts val="135"/>
              </a:spcBef>
            </a:pPr>
            <a:r>
              <a:rPr sz="1400" i="1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advisor</a:t>
            </a:r>
            <a:r>
              <a:rPr sz="1400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sz="1400" i="1" u="sng" spc="-30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sz="1400" i="1" u="sng" spc="7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100" i="1" u="sng" spc="-20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sz="1400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4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dirty="0" err="1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400" i="1" spc="80" dirty="0" err="1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_</a:t>
            </a:r>
            <a:r>
              <a:rPr sz="1100" i="1" spc="-25" dirty="0" err="1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sz="1400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700">
              <a:lnSpc>
                <a:spcPts val="1310"/>
              </a:lnSpc>
            </a:pPr>
            <a:r>
              <a:rPr sz="1400" i="1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</a:t>
            </a:r>
            <a:r>
              <a:rPr sz="1400" i="1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slot</a:t>
            </a:r>
            <a:r>
              <a:rPr sz="1400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sz="1400" i="1" u="sng" spc="-20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 </a:t>
            </a:r>
            <a:r>
              <a:rPr sz="1400" i="1" u="sng" spc="-2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slot </a:t>
            </a:r>
            <a:r>
              <a:rPr sz="1400" i="1" u="sng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sz="140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5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day</a:t>
            </a:r>
            <a:r>
              <a:rPr sz="1400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5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spc="-2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</a:t>
            </a:r>
            <a:r>
              <a:rPr sz="1400" i="1" u="sng" spc="-30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spc="-20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</a:t>
            </a:r>
            <a:r>
              <a:rPr sz="1400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4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</a:t>
            </a:r>
            <a:r>
              <a:rPr sz="1400" i="1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</a:t>
            </a:r>
            <a:r>
              <a:rPr sz="1400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i="1" spc="-5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prereq</a:t>
            </a:r>
            <a:r>
              <a:rPr sz="1400" spc="-5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sz="1400" i="1" u="sng" spc="-50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</a:t>
            </a:r>
            <a:r>
              <a:rPr sz="1400" i="1" u="sng" spc="2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sz="140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1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6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prereq</a:t>
            </a:r>
            <a:r>
              <a:rPr sz="1400" i="1" spc="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sz="1400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59690" algn="ctr">
              <a:lnSpc>
                <a:spcPct val="100000"/>
              </a:lnSpc>
            </a:pPr>
            <a:r>
              <a:rPr sz="1000" spc="-20" dirty="0">
                <a:solidFill>
                  <a:srgbClr val="231F20"/>
                </a:solidFill>
                <a:latin typeface="Lucida Sans"/>
                <a:cs typeface="Lucida Sans"/>
              </a:rPr>
              <a:t>Schema</a:t>
            </a:r>
            <a:r>
              <a:rPr sz="1000" spc="-25" dirty="0">
                <a:solidFill>
                  <a:srgbClr val="231F20"/>
                </a:solidFill>
                <a:latin typeface="Lucida Sans"/>
                <a:cs typeface="Lucida Sans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Lucida Sans"/>
                <a:cs typeface="Lucida Sans"/>
              </a:rPr>
              <a:t>of</a:t>
            </a:r>
            <a:r>
              <a:rPr sz="1000" spc="-30" dirty="0">
                <a:solidFill>
                  <a:srgbClr val="231F20"/>
                </a:solidFill>
                <a:latin typeface="Lucida Sans"/>
                <a:cs typeface="Lucida Sans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Lucida Sans"/>
                <a:cs typeface="Lucida Sans"/>
              </a:rPr>
              <a:t>the</a:t>
            </a:r>
            <a:r>
              <a:rPr sz="1000" spc="-25" dirty="0">
                <a:solidFill>
                  <a:srgbClr val="231F20"/>
                </a:solidFill>
                <a:latin typeface="Lucida Sans"/>
                <a:cs typeface="Lucida Sans"/>
              </a:rPr>
              <a:t> </a:t>
            </a:r>
            <a:r>
              <a:rPr sz="1000" spc="-45" dirty="0">
                <a:solidFill>
                  <a:srgbClr val="231F20"/>
                </a:solidFill>
                <a:latin typeface="Lucida Sans"/>
                <a:cs typeface="Lucida Sans"/>
              </a:rPr>
              <a:t>university</a:t>
            </a:r>
            <a:r>
              <a:rPr sz="1000" spc="-30" dirty="0">
                <a:solidFill>
                  <a:srgbClr val="231F20"/>
                </a:solidFill>
                <a:latin typeface="Lucida Sans"/>
                <a:cs typeface="Lucida Sans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Lucida Sans"/>
                <a:cs typeface="Lucida Sans"/>
              </a:rPr>
              <a:t>database.</a:t>
            </a:r>
            <a:endParaRPr sz="1000" dirty="0">
              <a:latin typeface="Lucida Sans"/>
              <a:cs typeface="Lucida Sa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AAC174-771B-BFF0-A47C-34777B8F74E4}"/>
              </a:ext>
            </a:extLst>
          </p:cNvPr>
          <p:cNvSpPr txBox="1"/>
          <p:nvPr/>
        </p:nvSpPr>
        <p:spPr>
          <a:xfrm>
            <a:off x="6603290" y="5463070"/>
            <a:ext cx="5333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Formal definition of keys as will as other types of keys will be discussed later</a:t>
            </a:r>
          </a:p>
        </p:txBody>
      </p:sp>
    </p:spTree>
    <p:extLst>
      <p:ext uri="{BB962C8B-B14F-4D97-AF65-F5344CB8AC3E}">
        <p14:creationId xmlns:p14="http://schemas.microsoft.com/office/powerpoint/2010/main" val="1300266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68433-A78B-1D52-D787-3F8B4C869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35898CF-B67F-6D4A-37E0-E189FAC719CD}"/>
              </a:ext>
            </a:extLst>
          </p:cNvPr>
          <p:cNvSpPr/>
          <p:nvPr/>
        </p:nvSpPr>
        <p:spPr>
          <a:xfrm>
            <a:off x="0" y="0"/>
            <a:ext cx="12192000" cy="843280"/>
          </a:xfrm>
          <a:prstGeom prst="rect">
            <a:avLst/>
          </a:prstGeom>
          <a:gradFill>
            <a:gsLst>
              <a:gs pos="0">
                <a:srgbClr val="008EF8"/>
              </a:gs>
              <a:gs pos="100000">
                <a:srgbClr val="5FBBF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r>
              <a:rPr lang="en-US" sz="40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University Schema diagram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2901467-678A-8155-1464-570DBE5AF0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29681" y="1035331"/>
            <a:ext cx="9389838" cy="562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834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B6E55-CC98-AEBB-8A68-4AACF0625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4CBA17-5343-DCFD-B838-834A89BD539C}"/>
              </a:ext>
            </a:extLst>
          </p:cNvPr>
          <p:cNvSpPr/>
          <p:nvPr/>
        </p:nvSpPr>
        <p:spPr>
          <a:xfrm>
            <a:off x="0" y="0"/>
            <a:ext cx="12192000" cy="843280"/>
          </a:xfrm>
          <a:prstGeom prst="rect">
            <a:avLst/>
          </a:prstGeom>
          <a:gradFill>
            <a:gsLst>
              <a:gs pos="0">
                <a:srgbClr val="008EF8"/>
              </a:gs>
              <a:gs pos="100000">
                <a:srgbClr val="5FBBF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r>
              <a:rPr lang="en-US" sz="40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 Languages</a:t>
            </a:r>
          </a:p>
        </p:txBody>
      </p:sp>
      <p:sp>
        <p:nvSpPr>
          <p:cNvPr id="117" name="Content Placeholder 4">
            <a:extLst>
              <a:ext uri="{FF2B5EF4-FFF2-40B4-BE49-F238E27FC236}">
                <a16:creationId xmlns:a16="http://schemas.microsoft.com/office/drawing/2014/main" id="{327DE89E-1EA4-F658-D022-F33D4EF858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1979" y="945574"/>
            <a:ext cx="5642957" cy="5694218"/>
          </a:xfrm>
          <a:solidFill>
            <a:srgbClr val="E7E7E7"/>
          </a:solidFill>
          <a:ln>
            <a:noFill/>
          </a:ln>
          <a:effectLst>
            <a:softEdge rad="0"/>
          </a:effectLst>
        </p:spPr>
        <p:txBody>
          <a:bodyPr lIns="182880" tIns="182880">
            <a:no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Relational Algebra</a:t>
            </a:r>
          </a:p>
          <a:p>
            <a:pPr lvl="1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relational algebra consists of a set of operations that take one or two relations as input and produce a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 relation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their result.</a:t>
            </a:r>
          </a:p>
          <a:p>
            <a:pPr lvl="1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However the relational algebra operations form the basis for the widely used SQL query language, database systems do not allow users to write queries in relational algebra.</a:t>
            </a:r>
          </a:p>
          <a:p>
            <a:pPr lvl="1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Select, project, rename, join</a:t>
            </a:r>
          </a:p>
          <a:p>
            <a:pPr marL="285750" lvl="1" indent="-285750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</a:t>
            </a:r>
            <a:r>
              <a:rPr lang="en-US" sz="2000" dirty="0">
                <a:solidFill>
                  <a:srgbClr val="0071C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(next sections)</a:t>
            </a:r>
            <a:endParaRPr lang="en-US" sz="1600" dirty="0">
              <a:solidFill>
                <a:srgbClr val="0071C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object 45">
            <a:extLst>
              <a:ext uri="{FF2B5EF4-FFF2-40B4-BE49-F238E27FC236}">
                <a16:creationId xmlns:a16="http://schemas.microsoft.com/office/drawing/2014/main" id="{63E42389-2E36-9B7A-2250-7AF0C14DE683}"/>
              </a:ext>
            </a:extLst>
          </p:cNvPr>
          <p:cNvSpPr txBox="1"/>
          <p:nvPr/>
        </p:nvSpPr>
        <p:spPr>
          <a:xfrm>
            <a:off x="6603290" y="1384198"/>
            <a:ext cx="5356859" cy="964431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1744980">
              <a:lnSpc>
                <a:spcPct val="106100"/>
              </a:lnSpc>
              <a:spcBef>
                <a:spcPts val="155"/>
              </a:spcBef>
            </a:pPr>
            <a:r>
              <a:rPr sz="1400" i="1" spc="-4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</a:t>
            </a:r>
            <a:r>
              <a:rPr sz="1400" spc="-4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sz="1400" i="1" u="sng" spc="-45" dirty="0" err="1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</a:t>
            </a:r>
            <a:r>
              <a:rPr lang="en-US" sz="1400" i="1" u="sng" spc="-10" dirty="0" err="1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_</a:t>
            </a:r>
            <a:r>
              <a:rPr sz="1400" i="1" u="sng" dirty="0" err="1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sz="140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4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  <a:r>
              <a:rPr sz="1400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4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 </a:t>
            </a:r>
            <a:r>
              <a:rPr sz="1400" i="1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sz="1400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4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credits</a:t>
            </a:r>
            <a:r>
              <a:rPr sz="1400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endParaRPr lang="en-US" sz="1400" spc="-10" dirty="0">
              <a:solidFill>
                <a:srgbClr val="231F2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700" marR="1744980">
              <a:lnSpc>
                <a:spcPct val="106100"/>
              </a:lnSpc>
              <a:spcBef>
                <a:spcPts val="155"/>
              </a:spcBef>
            </a:pPr>
            <a:r>
              <a:rPr lang="en-US" sz="1400" i="1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sz="1400" i="1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nstructor</a:t>
            </a:r>
            <a:r>
              <a:rPr sz="1400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sz="1100" i="1" u="sng" spc="-3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sz="1400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sz="1400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</a:t>
            </a:r>
            <a:r>
              <a:rPr sz="1400" i="1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sz="1400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salary</a:t>
            </a:r>
            <a:r>
              <a:rPr sz="1400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700" marR="1750695">
              <a:lnSpc>
                <a:spcPct val="110000"/>
              </a:lnSpc>
            </a:pPr>
            <a:r>
              <a:rPr sz="1400" i="1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teaches</a:t>
            </a:r>
            <a:r>
              <a:rPr sz="1400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sz="1100" i="1" u="sng" spc="-3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sz="1400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spc="-50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</a:t>
            </a:r>
            <a:r>
              <a:rPr sz="1400" i="1" u="sng" spc="10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sz="140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spc="-4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</a:t>
            </a:r>
            <a:r>
              <a:rPr sz="1400" i="1" u="sng" spc="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sz="140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spc="-3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semester</a:t>
            </a:r>
            <a:r>
              <a:rPr sz="1400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</a:t>
            </a:r>
            <a:r>
              <a:rPr sz="1400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endParaRPr lang="en-US" sz="1400" spc="-20" dirty="0">
              <a:solidFill>
                <a:srgbClr val="231F2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700" marR="1750695">
              <a:lnSpc>
                <a:spcPct val="110000"/>
              </a:lnSpc>
            </a:pPr>
            <a:r>
              <a:rPr lang="en-US" sz="1400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schema to practice relational </a:t>
            </a:r>
            <a:r>
              <a:rPr lang="en-US" sz="1400" spc="-20" dirty="0" err="1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algabra</a:t>
            </a:r>
            <a:endParaRPr lang="en-US" sz="1400" spc="-20" dirty="0">
              <a:solidFill>
                <a:srgbClr val="231F2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181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96758-F3CC-EE5D-E82A-7EDF5DD53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157D35-CEB8-DF3B-F29E-95F69EA95665}"/>
              </a:ext>
            </a:extLst>
          </p:cNvPr>
          <p:cNvSpPr/>
          <p:nvPr/>
        </p:nvSpPr>
        <p:spPr>
          <a:xfrm>
            <a:off x="0" y="0"/>
            <a:ext cx="12192000" cy="843280"/>
          </a:xfrm>
          <a:prstGeom prst="rect">
            <a:avLst/>
          </a:prstGeom>
          <a:gradFill>
            <a:gsLst>
              <a:gs pos="0">
                <a:srgbClr val="008EF8"/>
              </a:gs>
              <a:gs pos="100000">
                <a:srgbClr val="5FBBF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r>
              <a:rPr lang="en-US" sz="40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Relational Algebra (SIMPLE SCHEMA)</a:t>
            </a:r>
          </a:p>
        </p:txBody>
      </p:sp>
      <p:sp>
        <p:nvSpPr>
          <p:cNvPr id="117" name="Content Placeholder 4">
            <a:extLst>
              <a:ext uri="{FF2B5EF4-FFF2-40B4-BE49-F238E27FC236}">
                <a16:creationId xmlns:a16="http://schemas.microsoft.com/office/drawing/2014/main" id="{34AE69FB-D650-DF56-3272-EBBB0AB3A7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1979" y="945574"/>
            <a:ext cx="11193781" cy="1885783"/>
          </a:xfrm>
          <a:solidFill>
            <a:srgbClr val="E7E7E7"/>
          </a:solidFill>
          <a:ln>
            <a:noFill/>
          </a:ln>
          <a:effectLst>
            <a:softEdge rad="0"/>
          </a:effectLst>
        </p:spPr>
        <p:txBody>
          <a:bodyPr lIns="182880" tIns="182880">
            <a:noAutofit/>
          </a:bodyPr>
          <a:lstStyle/>
          <a:p>
            <a:pPr marL="457200" lvl="1" indent="0">
              <a:buNone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1744980" indent="0">
              <a:lnSpc>
                <a:spcPct val="106100"/>
              </a:lnSpc>
              <a:spcBef>
                <a:spcPts val="155"/>
              </a:spcBef>
              <a:buNone/>
            </a:pPr>
            <a:r>
              <a:rPr lang="en-US" sz="2000" i="1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Instructor</a:t>
            </a:r>
            <a:r>
              <a:rPr lang="en-US" sz="2000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800" i="1" u="sng" spc="-3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lang="en-US" sz="2000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z="2000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i="1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US" sz="2000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z="2000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i="1" spc="-25" dirty="0" err="1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dept_</a:t>
            </a:r>
            <a:r>
              <a:rPr lang="en-US" sz="2000" i="1" spc="-10" dirty="0" err="1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US" sz="2000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z="2000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i="1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salary</a:t>
            </a:r>
            <a:r>
              <a:rPr lang="en-US" sz="2000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marR="1744980" indent="0">
              <a:lnSpc>
                <a:spcPct val="106100"/>
              </a:lnSpc>
              <a:spcBef>
                <a:spcPts val="155"/>
              </a:spcBef>
              <a:buNone/>
            </a:pPr>
            <a:r>
              <a:rPr lang="en-US" sz="2000" i="1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teaches</a:t>
            </a:r>
            <a:r>
              <a:rPr lang="en-US" sz="2000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800" i="1" u="sng" spc="-3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lang="en-US" sz="2000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z="2000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i="1" u="sng" spc="-50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</a:t>
            </a:r>
            <a:r>
              <a:rPr lang="en-US" sz="2000" i="1" u="sng" spc="10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i="1" u="sng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lang="en-US" sz="200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z="2000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i="1" u="sng" spc="-45" dirty="0" err="1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</a:t>
            </a:r>
            <a:r>
              <a:rPr lang="en-US" sz="2000" i="1" u="sng" spc="5" dirty="0" err="1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_</a:t>
            </a:r>
            <a:r>
              <a:rPr lang="en-US" sz="2000" i="1" u="sng" dirty="0" err="1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lang="en-US" sz="200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z="2000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i="1" u="sng" spc="-3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semester</a:t>
            </a:r>
            <a:r>
              <a:rPr lang="en-US" sz="2000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z="2000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i="1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</a:t>
            </a:r>
            <a:r>
              <a:rPr lang="en-US" sz="2000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endParaRPr lang="en-US" sz="2000" i="1" spc="-45" dirty="0">
              <a:solidFill>
                <a:srgbClr val="231F2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1744980" indent="0">
              <a:lnSpc>
                <a:spcPct val="106100"/>
              </a:lnSpc>
              <a:spcBef>
                <a:spcPts val="155"/>
              </a:spcBef>
              <a:buNone/>
            </a:pPr>
            <a:r>
              <a:rPr lang="en-US" sz="2000" i="1" spc="-4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</a:t>
            </a:r>
            <a:r>
              <a:rPr lang="en-US" sz="2000" spc="-4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000" i="1" u="sng" spc="-45" dirty="0" err="1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</a:t>
            </a:r>
            <a:r>
              <a:rPr lang="en-US" sz="2000" i="1" u="sng" spc="-10" dirty="0" err="1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_</a:t>
            </a:r>
            <a:r>
              <a:rPr lang="en-US" sz="2000" i="1" u="sng" dirty="0" err="1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lang="en-US" sz="200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z="2000" spc="-4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i="1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  <a:r>
              <a:rPr lang="en-US" sz="2000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z="2000" spc="-4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i="1" spc="-25" dirty="0" err="1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dept_</a:t>
            </a:r>
            <a:r>
              <a:rPr lang="en-US" sz="2000" i="1" spc="-10" dirty="0" err="1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US" sz="2000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z="2000" spc="-4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i="1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credits</a:t>
            </a:r>
            <a:r>
              <a:rPr lang="en-US" sz="2000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DD02B4-AE82-6724-AE63-AEAF666E89BC}"/>
              </a:ext>
            </a:extLst>
          </p:cNvPr>
          <p:cNvSpPr txBox="1"/>
          <p:nvPr/>
        </p:nvSpPr>
        <p:spPr>
          <a:xfrm>
            <a:off x="601979" y="3205874"/>
            <a:ext cx="10512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instructor</a:t>
            </a:r>
          </a:p>
        </p:txBody>
      </p:sp>
      <p:graphicFrame>
        <p:nvGraphicFramePr>
          <p:cNvPr id="13" name="object 10">
            <a:extLst>
              <a:ext uri="{FF2B5EF4-FFF2-40B4-BE49-F238E27FC236}">
                <a16:creationId xmlns:a16="http://schemas.microsoft.com/office/drawing/2014/main" id="{FCE0EF73-41A2-2336-643E-BB72651B9924}"/>
              </a:ext>
            </a:extLst>
          </p:cNvPr>
          <p:cNvGraphicFramePr>
            <a:graphicFrameLocks noGrp="1"/>
          </p:cNvGraphicFramePr>
          <p:nvPr/>
        </p:nvGraphicFramePr>
        <p:xfrm>
          <a:off x="704992" y="3537934"/>
          <a:ext cx="2999852" cy="3178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8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1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45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65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dept</a:t>
                      </a:r>
                      <a:r>
                        <a:rPr sz="1200" i="1" spc="-4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salary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746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Srinivasan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2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65000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116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12121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Wu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90000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116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15151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Mozart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Music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2116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22222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Einstein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Physics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95000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2116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32343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</a:t>
                      </a: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60000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220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33456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Physics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87000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1220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45565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Katz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2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75000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2116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58583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Califieri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62000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2116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76543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Singh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2116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76766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Crick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72000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2116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Brandt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2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92000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9144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98345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Kim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Elec.</a:t>
                      </a: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Eng.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5" name="object 5">
            <a:extLst>
              <a:ext uri="{FF2B5EF4-FFF2-40B4-BE49-F238E27FC236}">
                <a16:creationId xmlns:a16="http://schemas.microsoft.com/office/drawing/2014/main" id="{78CC16F1-E4B8-81D3-BB9D-49A00984C5E1}"/>
              </a:ext>
            </a:extLst>
          </p:cNvPr>
          <p:cNvGraphicFramePr>
            <a:graphicFrameLocks noGrp="1"/>
          </p:cNvGraphicFramePr>
          <p:nvPr/>
        </p:nvGraphicFramePr>
        <p:xfrm>
          <a:off x="7897497" y="3537934"/>
          <a:ext cx="3692524" cy="31951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4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4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6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4738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course</a:t>
                      </a: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title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dept</a:t>
                      </a: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credits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036">
                <a:tc>
                  <a:txBody>
                    <a:bodyPr/>
                    <a:lstStyle/>
                    <a:p>
                      <a:pPr marR="26670"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Intro.</a:t>
                      </a:r>
                      <a:r>
                        <a:rPr sz="1100" spc="-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8">
                <a:tc>
                  <a:txBody>
                    <a:bodyPr/>
                    <a:lstStyle/>
                    <a:p>
                      <a:pPr marR="20955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Genetics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8">
                <a:tc>
                  <a:txBody>
                    <a:bodyPr/>
                    <a:lstStyle/>
                    <a:p>
                      <a:pPr marR="12700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399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Computational</a:t>
                      </a:r>
                      <a:r>
                        <a:rPr sz="1100" spc="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2">
                <a:tc>
                  <a:txBody>
                    <a:bodyPr/>
                    <a:lstStyle/>
                    <a:p>
                      <a:pPr marR="9080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Intro.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Computer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Science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2">
                <a:tc>
                  <a:txBody>
                    <a:bodyPr/>
                    <a:lstStyle/>
                    <a:p>
                      <a:pPr marR="81280" algn="ctr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Game</a:t>
                      </a:r>
                      <a:r>
                        <a:rPr sz="1100" spc="-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Design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2">
                <a:tc>
                  <a:txBody>
                    <a:bodyPr/>
                    <a:lstStyle/>
                    <a:p>
                      <a:pPr marR="9461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Robotics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2">
                <a:tc>
                  <a:txBody>
                    <a:bodyPr/>
                    <a:lstStyle/>
                    <a:p>
                      <a:pPr marR="9207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Image</a:t>
                      </a: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Processing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992">
                <a:tc>
                  <a:txBody>
                    <a:bodyPr/>
                    <a:lstStyle/>
                    <a:p>
                      <a:pPr marR="8572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Database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System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Concepts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8">
                <a:tc>
                  <a:txBody>
                    <a:bodyPr/>
                    <a:lstStyle/>
                    <a:p>
                      <a:pPr marR="91440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EE-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Intro.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</a:t>
                      </a:r>
                      <a:r>
                        <a:rPr sz="1100" spc="-1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Digital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Systems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Elec.</a:t>
                      </a:r>
                      <a:r>
                        <a:rPr sz="1100" spc="-3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Eng.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8">
                <a:tc>
                  <a:txBody>
                    <a:bodyPr/>
                    <a:lstStyle/>
                    <a:p>
                      <a:pPr marR="19685" algn="ctr">
                        <a:lnSpc>
                          <a:spcPts val="1195"/>
                        </a:lnSpc>
                      </a:pP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FIN-201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Investment</a:t>
                      </a: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Banking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992">
                <a:tc>
                  <a:txBody>
                    <a:bodyPr/>
                    <a:lstStyle/>
                    <a:p>
                      <a:pPr marR="33020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World</a:t>
                      </a:r>
                      <a:r>
                        <a:rPr sz="1100" spc="-3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992">
                <a:tc>
                  <a:txBody>
                    <a:bodyPr/>
                    <a:lstStyle/>
                    <a:p>
                      <a:pPr marR="26670" algn="ctr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Music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Video</a:t>
                      </a:r>
                      <a:r>
                        <a:rPr sz="1100" spc="-4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Production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Music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1837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spc="-7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Physical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Principles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89919A09-054D-E217-5EDE-DD078036E36C}"/>
              </a:ext>
            </a:extLst>
          </p:cNvPr>
          <p:cNvSpPr txBox="1"/>
          <p:nvPr/>
        </p:nvSpPr>
        <p:spPr>
          <a:xfrm>
            <a:off x="7794484" y="3202627"/>
            <a:ext cx="7950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course</a:t>
            </a:r>
          </a:p>
        </p:txBody>
      </p:sp>
      <p:graphicFrame>
        <p:nvGraphicFramePr>
          <p:cNvPr id="17" name="object 12">
            <a:extLst>
              <a:ext uri="{FF2B5EF4-FFF2-40B4-BE49-F238E27FC236}">
                <a16:creationId xmlns:a16="http://schemas.microsoft.com/office/drawing/2014/main" id="{8C50F99D-1533-9E8B-771F-17F0C10D9260}"/>
              </a:ext>
            </a:extLst>
          </p:cNvPr>
          <p:cNvGraphicFramePr>
            <a:graphicFrameLocks noGrp="1"/>
          </p:cNvGraphicFramePr>
          <p:nvPr/>
        </p:nvGraphicFramePr>
        <p:xfrm>
          <a:off x="4259068" y="3531443"/>
          <a:ext cx="3084205" cy="3242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8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7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12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58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course</a:t>
                      </a:r>
                      <a:r>
                        <a:rPr sz="1200" i="1" spc="-1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sec</a:t>
                      </a: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semester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year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450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494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315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494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9758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12121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FIN-201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758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15151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494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22222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7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494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32343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494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45565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494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45565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494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76766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Summer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9758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76766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Summer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9758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494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494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4468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98345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EE-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96BCFCD2-94E4-0C16-194C-6F983F553DD2}"/>
              </a:ext>
            </a:extLst>
          </p:cNvPr>
          <p:cNvSpPr txBox="1"/>
          <p:nvPr/>
        </p:nvSpPr>
        <p:spPr>
          <a:xfrm>
            <a:off x="4156055" y="3216034"/>
            <a:ext cx="8937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teaches</a:t>
            </a:r>
          </a:p>
        </p:txBody>
      </p:sp>
    </p:spTree>
    <p:extLst>
      <p:ext uri="{BB962C8B-B14F-4D97-AF65-F5344CB8AC3E}">
        <p14:creationId xmlns:p14="http://schemas.microsoft.com/office/powerpoint/2010/main" val="1625259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01FFE-8BB5-64E6-3B66-C59164606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F0FEB80-BA6B-BE12-203B-B41DC2F5A14C}"/>
              </a:ext>
            </a:extLst>
          </p:cNvPr>
          <p:cNvSpPr/>
          <p:nvPr/>
        </p:nvSpPr>
        <p:spPr>
          <a:xfrm>
            <a:off x="0" y="0"/>
            <a:ext cx="12192000" cy="843280"/>
          </a:xfrm>
          <a:prstGeom prst="rect">
            <a:avLst/>
          </a:prstGeom>
          <a:gradFill>
            <a:gsLst>
              <a:gs pos="0">
                <a:srgbClr val="008EF8"/>
              </a:gs>
              <a:gs pos="100000">
                <a:srgbClr val="5FBBF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r>
              <a:rPr lang="en-US" sz="40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Relational Algebra</a:t>
            </a:r>
          </a:p>
        </p:txBody>
      </p:sp>
      <p:sp>
        <p:nvSpPr>
          <p:cNvPr id="117" name="Content Placeholder 4">
            <a:extLst>
              <a:ext uri="{FF2B5EF4-FFF2-40B4-BE49-F238E27FC236}">
                <a16:creationId xmlns:a16="http://schemas.microsoft.com/office/drawing/2014/main" id="{7482CAB5-A777-466E-CD42-5508CDC28C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1979" y="945574"/>
            <a:ext cx="11193781" cy="2257053"/>
          </a:xfrm>
          <a:solidFill>
            <a:srgbClr val="E7E7E7"/>
          </a:solidFill>
          <a:ln>
            <a:noFill/>
          </a:ln>
          <a:effectLst>
            <a:softEdge rad="0"/>
          </a:effectLst>
        </p:spPr>
        <p:txBody>
          <a:bodyPr lIns="182880" tIns="182880"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Simples query: relation name 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instructor 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will return instructor instances</a:t>
            </a:r>
          </a:p>
          <a:p>
            <a:pPr marL="457200" lvl="1" indent="0">
              <a:buNone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05E769-67E1-46E3-D4A2-142FEFF5EED2}"/>
              </a:ext>
            </a:extLst>
          </p:cNvPr>
          <p:cNvSpPr txBox="1"/>
          <p:nvPr/>
        </p:nvSpPr>
        <p:spPr>
          <a:xfrm>
            <a:off x="601979" y="3236354"/>
            <a:ext cx="10512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instructor</a:t>
            </a:r>
          </a:p>
        </p:txBody>
      </p:sp>
      <p:graphicFrame>
        <p:nvGraphicFramePr>
          <p:cNvPr id="13" name="object 10">
            <a:extLst>
              <a:ext uri="{FF2B5EF4-FFF2-40B4-BE49-F238E27FC236}">
                <a16:creationId xmlns:a16="http://schemas.microsoft.com/office/drawing/2014/main" id="{C554F3F2-6BC8-48EA-D21F-324122089FFE}"/>
              </a:ext>
            </a:extLst>
          </p:cNvPr>
          <p:cNvGraphicFramePr>
            <a:graphicFrameLocks noGrp="1"/>
          </p:cNvGraphicFramePr>
          <p:nvPr/>
        </p:nvGraphicFramePr>
        <p:xfrm>
          <a:off x="704992" y="3568414"/>
          <a:ext cx="2999852" cy="3178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8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1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45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65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dept</a:t>
                      </a:r>
                      <a:r>
                        <a:rPr sz="1200" i="1" spc="-4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salary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746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Srinivasan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2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65000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116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12121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Wu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90000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116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15151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Mozart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Music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2116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22222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Einstein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Physics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95000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2116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32343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</a:t>
                      </a: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60000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220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33456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Physics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87000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1220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45565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Katz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2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75000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2116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58583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Califieri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62000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2116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76543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Singh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2116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76766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Crick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72000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2116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Brandt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2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92000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9144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98345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Kim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Elec.</a:t>
                      </a: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Eng.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5" name="object 5">
            <a:extLst>
              <a:ext uri="{FF2B5EF4-FFF2-40B4-BE49-F238E27FC236}">
                <a16:creationId xmlns:a16="http://schemas.microsoft.com/office/drawing/2014/main" id="{5B1B182F-100B-4608-9542-25763E3657D7}"/>
              </a:ext>
            </a:extLst>
          </p:cNvPr>
          <p:cNvGraphicFramePr>
            <a:graphicFrameLocks noGrp="1"/>
          </p:cNvGraphicFramePr>
          <p:nvPr/>
        </p:nvGraphicFramePr>
        <p:xfrm>
          <a:off x="7897497" y="3568414"/>
          <a:ext cx="3692524" cy="31951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4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4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6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4738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course</a:t>
                      </a: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title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dept</a:t>
                      </a: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credits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036">
                <a:tc>
                  <a:txBody>
                    <a:bodyPr/>
                    <a:lstStyle/>
                    <a:p>
                      <a:pPr marR="26670"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Intro.</a:t>
                      </a:r>
                      <a:r>
                        <a:rPr sz="1100" spc="-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8">
                <a:tc>
                  <a:txBody>
                    <a:bodyPr/>
                    <a:lstStyle/>
                    <a:p>
                      <a:pPr marR="20955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Genetics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8">
                <a:tc>
                  <a:txBody>
                    <a:bodyPr/>
                    <a:lstStyle/>
                    <a:p>
                      <a:pPr marR="12700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399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Computational</a:t>
                      </a:r>
                      <a:r>
                        <a:rPr sz="1100" spc="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2">
                <a:tc>
                  <a:txBody>
                    <a:bodyPr/>
                    <a:lstStyle/>
                    <a:p>
                      <a:pPr marR="9080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Intro.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Computer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Science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2">
                <a:tc>
                  <a:txBody>
                    <a:bodyPr/>
                    <a:lstStyle/>
                    <a:p>
                      <a:pPr marR="81280" algn="ctr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Game</a:t>
                      </a:r>
                      <a:r>
                        <a:rPr sz="1100" spc="-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Design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2">
                <a:tc>
                  <a:txBody>
                    <a:bodyPr/>
                    <a:lstStyle/>
                    <a:p>
                      <a:pPr marR="9461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Robotics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2">
                <a:tc>
                  <a:txBody>
                    <a:bodyPr/>
                    <a:lstStyle/>
                    <a:p>
                      <a:pPr marR="9207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Image</a:t>
                      </a: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Processing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992">
                <a:tc>
                  <a:txBody>
                    <a:bodyPr/>
                    <a:lstStyle/>
                    <a:p>
                      <a:pPr marR="8572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Database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System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Concepts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8">
                <a:tc>
                  <a:txBody>
                    <a:bodyPr/>
                    <a:lstStyle/>
                    <a:p>
                      <a:pPr marR="91440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EE-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Intro.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</a:t>
                      </a:r>
                      <a:r>
                        <a:rPr sz="1100" spc="-1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Digital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Systems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Elec.</a:t>
                      </a:r>
                      <a:r>
                        <a:rPr sz="1100" spc="-3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Eng.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8">
                <a:tc>
                  <a:txBody>
                    <a:bodyPr/>
                    <a:lstStyle/>
                    <a:p>
                      <a:pPr marR="19685" algn="ctr">
                        <a:lnSpc>
                          <a:spcPts val="1195"/>
                        </a:lnSpc>
                      </a:pP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FIN-201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Investment</a:t>
                      </a: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Banking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992">
                <a:tc>
                  <a:txBody>
                    <a:bodyPr/>
                    <a:lstStyle/>
                    <a:p>
                      <a:pPr marR="33020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World</a:t>
                      </a:r>
                      <a:r>
                        <a:rPr sz="1100" spc="-3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992">
                <a:tc>
                  <a:txBody>
                    <a:bodyPr/>
                    <a:lstStyle/>
                    <a:p>
                      <a:pPr marR="26670" algn="ctr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Music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Video</a:t>
                      </a:r>
                      <a:r>
                        <a:rPr sz="1100" spc="-4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Production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Music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1837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spc="-7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Physical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Principles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DA61A83-8E8B-6EF4-6112-7DE2451900EB}"/>
              </a:ext>
            </a:extLst>
          </p:cNvPr>
          <p:cNvSpPr txBox="1"/>
          <p:nvPr/>
        </p:nvSpPr>
        <p:spPr>
          <a:xfrm>
            <a:off x="7794484" y="3233107"/>
            <a:ext cx="7950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course</a:t>
            </a:r>
          </a:p>
        </p:txBody>
      </p:sp>
      <p:graphicFrame>
        <p:nvGraphicFramePr>
          <p:cNvPr id="17" name="object 12">
            <a:extLst>
              <a:ext uri="{FF2B5EF4-FFF2-40B4-BE49-F238E27FC236}">
                <a16:creationId xmlns:a16="http://schemas.microsoft.com/office/drawing/2014/main" id="{E2AA72CE-17D5-84F8-E2D5-49F4368D39C2}"/>
              </a:ext>
            </a:extLst>
          </p:cNvPr>
          <p:cNvGraphicFramePr>
            <a:graphicFrameLocks noGrp="1"/>
          </p:cNvGraphicFramePr>
          <p:nvPr/>
        </p:nvGraphicFramePr>
        <p:xfrm>
          <a:off x="4259068" y="3561923"/>
          <a:ext cx="3084205" cy="3242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8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7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12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58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course</a:t>
                      </a:r>
                      <a:r>
                        <a:rPr sz="1200" i="1" spc="-1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sec</a:t>
                      </a: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semester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year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450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494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315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494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9758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12121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FIN-201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758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15151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494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22222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7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494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32343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494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45565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494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45565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494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76766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Summer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9758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76766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Summer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9758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494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494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4468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98345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EE-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625B16CE-9A91-CCE5-A0C7-87BB773892B8}"/>
              </a:ext>
            </a:extLst>
          </p:cNvPr>
          <p:cNvSpPr txBox="1"/>
          <p:nvPr/>
        </p:nvSpPr>
        <p:spPr>
          <a:xfrm>
            <a:off x="4156055" y="3246514"/>
            <a:ext cx="8937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teaches</a:t>
            </a:r>
          </a:p>
        </p:txBody>
      </p:sp>
    </p:spTree>
    <p:extLst>
      <p:ext uri="{BB962C8B-B14F-4D97-AF65-F5344CB8AC3E}">
        <p14:creationId xmlns:p14="http://schemas.microsoft.com/office/powerpoint/2010/main" val="2413661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8BD4E-D2FB-2A6B-F67F-348537E95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DDFB4D-A640-7866-ECE5-0BF77F0B097E}"/>
              </a:ext>
            </a:extLst>
          </p:cNvPr>
          <p:cNvSpPr/>
          <p:nvPr/>
        </p:nvSpPr>
        <p:spPr>
          <a:xfrm>
            <a:off x="0" y="0"/>
            <a:ext cx="12192000" cy="843280"/>
          </a:xfrm>
          <a:prstGeom prst="rect">
            <a:avLst/>
          </a:prstGeom>
          <a:gradFill>
            <a:gsLst>
              <a:gs pos="0">
                <a:srgbClr val="008EF8"/>
              </a:gs>
              <a:gs pos="100000">
                <a:srgbClr val="5FBBF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r>
              <a:rPr lang="en-US" sz="40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Relational Algebra (select)</a:t>
            </a:r>
          </a:p>
        </p:txBody>
      </p:sp>
      <p:sp>
        <p:nvSpPr>
          <p:cNvPr id="117" name="Content Placeholder 4">
            <a:extLst>
              <a:ext uri="{FF2B5EF4-FFF2-40B4-BE49-F238E27FC236}">
                <a16:creationId xmlns:a16="http://schemas.microsoft.com/office/drawing/2014/main" id="{2E75402E-0C40-4BBC-808C-43B6FBDBFF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1979" y="945574"/>
            <a:ext cx="11193781" cy="2719960"/>
          </a:xfrm>
          <a:solidFill>
            <a:srgbClr val="E7E7E7"/>
          </a:solidFill>
          <a:ln>
            <a:noFill/>
          </a:ln>
          <a:effectLst>
            <a:softEdge rad="0"/>
          </a:effectLst>
        </p:spPr>
        <p:txBody>
          <a:bodyPr lIns="182880" tIns="182880"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operation: selects tuples that satisfy a given predicate. σ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tuples of the instructor relation where the instructor is in the “Physics” department.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</a:t>
            </a:r>
            <a:r>
              <a:rPr lang="en-US" sz="2000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</a:t>
            </a:r>
            <a:r>
              <a:rPr lang="en-US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name = “Physics”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(instructor)</a:t>
            </a:r>
          </a:p>
          <a:p>
            <a:pPr>
              <a:spcBef>
                <a:spcPts val="600"/>
              </a:spcBef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tuples of the instructor relation where the instructor is in the “Physics” and salary &gt; 9000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</a:t>
            </a:r>
            <a:r>
              <a:rPr lang="en-US" sz="2000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</a:t>
            </a:r>
            <a:r>
              <a:rPr lang="en-US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name = “Physics” ∧ salary&gt;90000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(instructor)</a:t>
            </a:r>
          </a:p>
          <a:p>
            <a:pPr>
              <a:spcBef>
                <a:spcPts val="600"/>
              </a:spcBef>
            </a:pPr>
            <a:r>
              <a:rPr lang="en-US" sz="1800" b="0" i="0" dirty="0">
                <a:solidFill>
                  <a:srgbClr val="24202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all departments whose name is the same as their building name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	</a:t>
            </a:r>
            <a:r>
              <a:rPr lang="en-US" sz="2000" b="0" i="0" dirty="0" err="1">
                <a:solidFill>
                  <a:srgbClr val="242021"/>
                </a:solidFill>
                <a:effectLst/>
                <a:latin typeface="STIXMath-Regular"/>
              </a:rPr>
              <a:t>σ</a:t>
            </a:r>
            <a:r>
              <a:rPr lang="en-US" sz="2000" b="0" i="1" baseline="-25000" dirty="0" err="1">
                <a:solidFill>
                  <a:srgbClr val="242021"/>
                </a:solidFill>
                <a:effectLst/>
                <a:latin typeface="NimbusRomDOT-RegIta"/>
              </a:rPr>
              <a:t>dept</a:t>
            </a:r>
            <a:r>
              <a:rPr lang="en-US" sz="2000" b="0" i="1" baseline="-25000" dirty="0">
                <a:solidFill>
                  <a:srgbClr val="242021"/>
                </a:solidFill>
                <a:effectLst/>
                <a:latin typeface="NimbusRomDOT-RegIta"/>
              </a:rPr>
              <a:t> name </a:t>
            </a:r>
            <a:r>
              <a:rPr lang="en-US" sz="2000" b="0" i="0" baseline="-25000" dirty="0">
                <a:solidFill>
                  <a:srgbClr val="242021"/>
                </a:solidFill>
                <a:effectLst/>
                <a:latin typeface="STIXMath-Regular"/>
              </a:rPr>
              <a:t>= </a:t>
            </a:r>
            <a:r>
              <a:rPr lang="en-US" sz="2000" b="0" i="1" baseline="-25000" dirty="0">
                <a:solidFill>
                  <a:srgbClr val="242021"/>
                </a:solidFill>
                <a:effectLst/>
                <a:latin typeface="NimbusRomDOT-RegIta"/>
              </a:rPr>
              <a:t>building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NimbusRomDOT-Reg"/>
              </a:rPr>
              <a:t>(</a:t>
            </a:r>
            <a:r>
              <a:rPr lang="en-US" sz="2000" b="0" i="1" dirty="0">
                <a:solidFill>
                  <a:srgbClr val="242021"/>
                </a:solidFill>
                <a:effectLst/>
                <a:latin typeface="NimbusRomDOT-RegIta"/>
              </a:rPr>
              <a:t>department</a:t>
            </a:r>
            <a:r>
              <a:rPr lang="en-US" sz="2000" b="0" i="0" dirty="0">
                <a:solidFill>
                  <a:srgbClr val="242021"/>
                </a:solidFill>
                <a:effectLst/>
                <a:latin typeface="NimbusRomDOT-Reg"/>
              </a:rPr>
              <a:t>)</a:t>
            </a:r>
            <a:r>
              <a:rPr lang="en-US" sz="2000" dirty="0"/>
              <a:t> 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492C5C-DBC8-7C64-CF64-8268C6BC4917}"/>
              </a:ext>
            </a:extLst>
          </p:cNvPr>
          <p:cNvSpPr txBox="1"/>
          <p:nvPr/>
        </p:nvSpPr>
        <p:spPr>
          <a:xfrm>
            <a:off x="601979" y="3665534"/>
            <a:ext cx="10512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instructor</a:t>
            </a:r>
          </a:p>
        </p:txBody>
      </p:sp>
      <p:graphicFrame>
        <p:nvGraphicFramePr>
          <p:cNvPr id="13" name="object 10">
            <a:extLst>
              <a:ext uri="{FF2B5EF4-FFF2-40B4-BE49-F238E27FC236}">
                <a16:creationId xmlns:a16="http://schemas.microsoft.com/office/drawing/2014/main" id="{F9FBFDB7-1496-51C1-B31A-736566579C56}"/>
              </a:ext>
            </a:extLst>
          </p:cNvPr>
          <p:cNvGraphicFramePr>
            <a:graphicFrameLocks noGrp="1"/>
          </p:cNvGraphicFramePr>
          <p:nvPr/>
        </p:nvGraphicFramePr>
        <p:xfrm>
          <a:off x="704992" y="3951890"/>
          <a:ext cx="2999852" cy="27953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8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1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6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65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dept</a:t>
                      </a:r>
                      <a:r>
                        <a:rPr sz="1200" i="1" spc="-4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salary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069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Srinivasan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2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65000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12121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Wu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90000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15151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Mozart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Music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22222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Einstein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Physics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95000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32343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</a:t>
                      </a: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60000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32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33456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Physics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87000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32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45565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Katz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2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75000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58583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Califieri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62000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76543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Singh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76766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Crick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72000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Brandt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2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92000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089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98345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Kim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Elec.</a:t>
                      </a: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Eng.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5" name="object 5">
            <a:extLst>
              <a:ext uri="{FF2B5EF4-FFF2-40B4-BE49-F238E27FC236}">
                <a16:creationId xmlns:a16="http://schemas.microsoft.com/office/drawing/2014/main" id="{5911A956-0FB3-193C-35D6-70E5B301BD2F}"/>
              </a:ext>
            </a:extLst>
          </p:cNvPr>
          <p:cNvGraphicFramePr>
            <a:graphicFrameLocks noGrp="1"/>
          </p:cNvGraphicFramePr>
          <p:nvPr/>
        </p:nvGraphicFramePr>
        <p:xfrm>
          <a:off x="7897497" y="3951890"/>
          <a:ext cx="3692524" cy="28117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4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4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6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964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course</a:t>
                      </a: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title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dept</a:t>
                      </a: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credits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907">
                <a:tc>
                  <a:txBody>
                    <a:bodyPr/>
                    <a:lstStyle/>
                    <a:p>
                      <a:pPr marR="26670"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Intro.</a:t>
                      </a:r>
                      <a:r>
                        <a:rPr sz="1100" spc="-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20955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Genetics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12700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399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Computational</a:t>
                      </a:r>
                      <a:r>
                        <a:rPr sz="1100" spc="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9080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Intro.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Computer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Science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81280" algn="ctr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Game</a:t>
                      </a:r>
                      <a:r>
                        <a:rPr sz="1100" spc="-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Design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9461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Robotics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9207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Image</a:t>
                      </a: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Processing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8572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Database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System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Concepts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91440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EE-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Intro.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</a:t>
                      </a:r>
                      <a:r>
                        <a:rPr sz="1100" spc="-1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Digital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Systems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Elec.</a:t>
                      </a:r>
                      <a:r>
                        <a:rPr sz="1100" spc="-3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Eng.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19685" algn="ctr">
                        <a:lnSpc>
                          <a:spcPts val="1195"/>
                        </a:lnSpc>
                      </a:pP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FIN-201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Investment</a:t>
                      </a: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Banking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33020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World</a:t>
                      </a:r>
                      <a:r>
                        <a:rPr sz="1100" spc="-3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26670" algn="ctr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Music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Video</a:t>
                      </a:r>
                      <a:r>
                        <a:rPr sz="1100" spc="-4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Production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Music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4013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spc="-7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Physical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Principles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6BE4746-EBD7-DB64-EED2-2B481D482951}"/>
              </a:ext>
            </a:extLst>
          </p:cNvPr>
          <p:cNvSpPr txBox="1"/>
          <p:nvPr/>
        </p:nvSpPr>
        <p:spPr>
          <a:xfrm>
            <a:off x="7794484" y="3665534"/>
            <a:ext cx="7950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course</a:t>
            </a:r>
          </a:p>
        </p:txBody>
      </p:sp>
      <p:graphicFrame>
        <p:nvGraphicFramePr>
          <p:cNvPr id="17" name="object 12">
            <a:extLst>
              <a:ext uri="{FF2B5EF4-FFF2-40B4-BE49-F238E27FC236}">
                <a16:creationId xmlns:a16="http://schemas.microsoft.com/office/drawing/2014/main" id="{C5058E8F-7C2C-CFBE-B6A1-39BEEFC0E2A1}"/>
              </a:ext>
            </a:extLst>
          </p:cNvPr>
          <p:cNvGraphicFramePr>
            <a:graphicFrameLocks noGrp="1"/>
          </p:cNvGraphicFramePr>
          <p:nvPr/>
        </p:nvGraphicFramePr>
        <p:xfrm>
          <a:off x="4259068" y="3951890"/>
          <a:ext cx="3084205" cy="2852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8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7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25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58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course</a:t>
                      </a:r>
                      <a:r>
                        <a:rPr sz="1200" i="1" spc="-1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sec</a:t>
                      </a: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semester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year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172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315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12121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FIN-201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15151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22222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7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32343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45565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45565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76766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Summer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76766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Summer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9878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98345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EE-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0C0957A5-01EE-416E-9D89-2F85E12981C3}"/>
              </a:ext>
            </a:extLst>
          </p:cNvPr>
          <p:cNvSpPr txBox="1"/>
          <p:nvPr/>
        </p:nvSpPr>
        <p:spPr>
          <a:xfrm>
            <a:off x="4166215" y="3665534"/>
            <a:ext cx="8937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teaches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153995-CA3A-6BE8-E96A-5467602CA6F4}"/>
              </a:ext>
            </a:extLst>
          </p:cNvPr>
          <p:cNvSpPr txBox="1"/>
          <p:nvPr/>
        </p:nvSpPr>
        <p:spPr>
          <a:xfrm>
            <a:off x="9672639" y="1659223"/>
            <a:ext cx="2356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dirty="0">
                <a:solidFill>
                  <a:srgbClr val="242021"/>
                </a:solidFill>
                <a:effectLst/>
                <a:latin typeface="STIXMath-Regular"/>
              </a:rPr>
              <a:t>=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imbusRomDOT-Reg"/>
              </a:rPr>
              <a:t>,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STIXMathCalligraphy-Regular"/>
              </a:rPr>
              <a:t>≠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imbusRomDOT-Reg"/>
              </a:rPr>
              <a:t>, 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STIXMath-Italic"/>
              </a:rPr>
              <a:t>&lt;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imbusRomDOT-Reg"/>
              </a:rPr>
              <a:t>,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STIXMathCalligraphy-Regular"/>
              </a:rPr>
              <a:t>≤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imbusRomDOT-Reg"/>
              </a:rPr>
              <a:t>, </a:t>
            </a:r>
            <a:r>
              <a:rPr lang="en-US" sz="1800" b="0" i="1" dirty="0">
                <a:solidFill>
                  <a:srgbClr val="242021"/>
                </a:solidFill>
                <a:effectLst/>
                <a:latin typeface="STIXMath-Italic"/>
              </a:rPr>
              <a:t>&gt;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imbusRomDOT-Reg"/>
              </a:rPr>
              <a:t>,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STIXMathCalligraphy-Regular"/>
              </a:rPr>
              <a:t>≥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and (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STIXMath-Regular"/>
              </a:rPr>
              <a:t>∧), or(∨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NimbusRomDOT-Reg"/>
              </a:rPr>
              <a:t>) , not(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STIXMath-Regular"/>
              </a:rPr>
              <a:t>¬)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405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30CF-9A8E-7D3C-32C2-403514A77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DA8491F-08E5-8555-C18C-0BC6B42A99EF}"/>
              </a:ext>
            </a:extLst>
          </p:cNvPr>
          <p:cNvSpPr/>
          <p:nvPr/>
        </p:nvSpPr>
        <p:spPr>
          <a:xfrm>
            <a:off x="0" y="0"/>
            <a:ext cx="12192000" cy="843280"/>
          </a:xfrm>
          <a:prstGeom prst="rect">
            <a:avLst/>
          </a:prstGeom>
          <a:gradFill>
            <a:gsLst>
              <a:gs pos="0">
                <a:srgbClr val="008EF8"/>
              </a:gs>
              <a:gs pos="100000">
                <a:srgbClr val="5FBBF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r>
              <a:rPr lang="en-US" sz="40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Relational Algebra (project)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Content Placeholder 4">
                <a:extLst>
                  <a:ext uri="{FF2B5EF4-FFF2-40B4-BE49-F238E27FC236}">
                    <a16:creationId xmlns:a16="http://schemas.microsoft.com/office/drawing/2014/main" id="{0EE07491-9E0C-8CC4-E07D-9CBE269E86A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01979" y="945574"/>
                <a:ext cx="11193781" cy="2719960"/>
              </a:xfrm>
              <a:solidFill>
                <a:srgbClr val="E7E7E7"/>
              </a:solidFill>
              <a:ln>
                <a:noFill/>
              </a:ln>
              <a:effectLst>
                <a:softEdge rad="0"/>
              </a:effectLst>
            </p:spPr>
            <p:txBody>
              <a:bodyPr lIns="182880" tIns="182880">
                <a:noAutofit/>
              </a:bodyPr>
              <a:lstStyle/>
              <a:p>
                <a:pPr marL="0" indent="0"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Project operation: to pick certain columns</a:t>
                </a:r>
              </a:p>
              <a:p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list all instructors’ ID, name, and salary</a:t>
                </a:r>
              </a:p>
              <a:p>
                <a:pPr marL="0" indent="0">
                  <a:spcBef>
                    <a:spcPts val="1200"/>
                  </a:spcBef>
                  <a:spcAft>
                    <a:spcPts val="600"/>
                  </a:spcAft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:r>
                  <a:rPr lang="en-US" sz="1800" b="0" i="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2000" b="0" i="1" smtClean="0">
                        <a:solidFill>
                          <a:srgbClr val="24202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en-US" sz="2000" b="0" i="1" baseline="-2500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ID</a:t>
                </a:r>
                <a:r>
                  <a:rPr lang="en-US" sz="2000" b="0" i="0" baseline="-2500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2000" b="0" i="1" baseline="-2500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name</a:t>
                </a:r>
                <a:r>
                  <a:rPr lang="en-US" sz="2000" b="0" i="0" baseline="-2500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2000" b="0" i="1" baseline="-2500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salary</a:t>
                </a:r>
                <a:r>
                  <a:rPr lang="en-US" sz="2000" b="0" i="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sz="2000" b="0" i="1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instructor</a:t>
                </a:r>
                <a:r>
                  <a:rPr lang="en-US" sz="2000" b="0" i="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7" name="Content Placeholder 4">
                <a:extLst>
                  <a:ext uri="{FF2B5EF4-FFF2-40B4-BE49-F238E27FC236}">
                    <a16:creationId xmlns:a16="http://schemas.microsoft.com/office/drawing/2014/main" id="{0EE07491-9E0C-8CC4-E07D-9CBE269E86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01979" y="945574"/>
                <a:ext cx="11193781" cy="2719960"/>
              </a:xfr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softEdge rad="0"/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7B4279A-3F46-6D3A-F56A-94AA06A38BE7}"/>
              </a:ext>
            </a:extLst>
          </p:cNvPr>
          <p:cNvSpPr txBox="1"/>
          <p:nvPr/>
        </p:nvSpPr>
        <p:spPr>
          <a:xfrm>
            <a:off x="601979" y="3665534"/>
            <a:ext cx="10512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instructor</a:t>
            </a:r>
          </a:p>
        </p:txBody>
      </p:sp>
      <p:graphicFrame>
        <p:nvGraphicFramePr>
          <p:cNvPr id="13" name="object 10">
            <a:extLst>
              <a:ext uri="{FF2B5EF4-FFF2-40B4-BE49-F238E27FC236}">
                <a16:creationId xmlns:a16="http://schemas.microsoft.com/office/drawing/2014/main" id="{4EB4EE30-AC4D-F6E2-7B6B-01F39A3552AF}"/>
              </a:ext>
            </a:extLst>
          </p:cNvPr>
          <p:cNvGraphicFramePr>
            <a:graphicFrameLocks noGrp="1"/>
          </p:cNvGraphicFramePr>
          <p:nvPr/>
        </p:nvGraphicFramePr>
        <p:xfrm>
          <a:off x="704992" y="3951890"/>
          <a:ext cx="2999852" cy="27953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8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1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6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65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dept</a:t>
                      </a:r>
                      <a:r>
                        <a:rPr sz="1200" i="1" spc="-4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salary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069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Srinivasan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2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65000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12121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Wu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90000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15151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Mozart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Music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22222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Einstein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Physics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95000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32343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</a:t>
                      </a: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60000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32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33456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Physics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87000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32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45565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Katz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2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75000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58583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Califieri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62000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76543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Singh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76766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Crick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72000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Brandt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2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92000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089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98345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Kim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Elec.</a:t>
                      </a: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Eng.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5" name="object 5">
            <a:extLst>
              <a:ext uri="{FF2B5EF4-FFF2-40B4-BE49-F238E27FC236}">
                <a16:creationId xmlns:a16="http://schemas.microsoft.com/office/drawing/2014/main" id="{1C30C8FF-CB25-CBCD-E7A6-88F86C6CFBC8}"/>
              </a:ext>
            </a:extLst>
          </p:cNvPr>
          <p:cNvGraphicFramePr>
            <a:graphicFrameLocks noGrp="1"/>
          </p:cNvGraphicFramePr>
          <p:nvPr/>
        </p:nvGraphicFramePr>
        <p:xfrm>
          <a:off x="7897497" y="3951890"/>
          <a:ext cx="3692524" cy="28117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4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4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6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964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course</a:t>
                      </a: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title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dept</a:t>
                      </a: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credits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907">
                <a:tc>
                  <a:txBody>
                    <a:bodyPr/>
                    <a:lstStyle/>
                    <a:p>
                      <a:pPr marR="26670"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Intro.</a:t>
                      </a:r>
                      <a:r>
                        <a:rPr sz="1100" spc="-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20955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Genetics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12700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399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Computational</a:t>
                      </a:r>
                      <a:r>
                        <a:rPr sz="1100" spc="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9080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Intro.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Computer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Science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81280" algn="ctr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Game</a:t>
                      </a:r>
                      <a:r>
                        <a:rPr sz="1100" spc="-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Design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9461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Robotics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9207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Image</a:t>
                      </a: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Processing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8572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Database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System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Concepts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91440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EE-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Intro.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</a:t>
                      </a:r>
                      <a:r>
                        <a:rPr sz="1100" spc="-1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Digital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Systems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Elec.</a:t>
                      </a:r>
                      <a:r>
                        <a:rPr sz="1100" spc="-3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Eng.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19685" algn="ctr">
                        <a:lnSpc>
                          <a:spcPts val="1195"/>
                        </a:lnSpc>
                      </a:pP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FIN-201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Investment</a:t>
                      </a: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Banking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33020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World</a:t>
                      </a:r>
                      <a:r>
                        <a:rPr sz="1100" spc="-3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26670" algn="ctr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Music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Video</a:t>
                      </a:r>
                      <a:r>
                        <a:rPr sz="1100" spc="-4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Production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Music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4013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spc="-7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Physical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Principles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F6D3AF36-4EC9-665F-F66C-A9B561DFA090}"/>
              </a:ext>
            </a:extLst>
          </p:cNvPr>
          <p:cNvSpPr txBox="1"/>
          <p:nvPr/>
        </p:nvSpPr>
        <p:spPr>
          <a:xfrm>
            <a:off x="7794484" y="3665534"/>
            <a:ext cx="7950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course</a:t>
            </a:r>
          </a:p>
        </p:txBody>
      </p:sp>
      <p:graphicFrame>
        <p:nvGraphicFramePr>
          <p:cNvPr id="17" name="object 12">
            <a:extLst>
              <a:ext uri="{FF2B5EF4-FFF2-40B4-BE49-F238E27FC236}">
                <a16:creationId xmlns:a16="http://schemas.microsoft.com/office/drawing/2014/main" id="{BB82D076-C374-08F8-C69E-EDE742D80497}"/>
              </a:ext>
            </a:extLst>
          </p:cNvPr>
          <p:cNvGraphicFramePr>
            <a:graphicFrameLocks noGrp="1"/>
          </p:cNvGraphicFramePr>
          <p:nvPr/>
        </p:nvGraphicFramePr>
        <p:xfrm>
          <a:off x="4259068" y="3951890"/>
          <a:ext cx="3084205" cy="2852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8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7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25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58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course</a:t>
                      </a:r>
                      <a:r>
                        <a:rPr sz="1200" i="1" spc="-1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sec</a:t>
                      </a: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semester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year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172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315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12121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FIN-201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15151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22222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7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32343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45565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45565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76766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Summer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76766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Summer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9878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98345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EE-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B83617C9-6478-CB80-B8D9-57CADEE23546}"/>
              </a:ext>
            </a:extLst>
          </p:cNvPr>
          <p:cNvSpPr txBox="1"/>
          <p:nvPr/>
        </p:nvSpPr>
        <p:spPr>
          <a:xfrm>
            <a:off x="4166215" y="3665534"/>
            <a:ext cx="8937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teaches</a:t>
            </a:r>
          </a:p>
        </p:txBody>
      </p:sp>
    </p:spTree>
    <p:extLst>
      <p:ext uri="{BB962C8B-B14F-4D97-AF65-F5344CB8AC3E}">
        <p14:creationId xmlns:p14="http://schemas.microsoft.com/office/powerpoint/2010/main" val="1595672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FA70C-7A36-5F49-9322-D1730AFCD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019331-4553-9317-32D9-AAFDD6309D43}"/>
              </a:ext>
            </a:extLst>
          </p:cNvPr>
          <p:cNvSpPr/>
          <p:nvPr/>
        </p:nvSpPr>
        <p:spPr>
          <a:xfrm>
            <a:off x="0" y="0"/>
            <a:ext cx="12192000" cy="843280"/>
          </a:xfrm>
          <a:prstGeom prst="rect">
            <a:avLst/>
          </a:prstGeom>
          <a:gradFill>
            <a:gsLst>
              <a:gs pos="0">
                <a:srgbClr val="008EF8"/>
              </a:gs>
              <a:gs pos="100000">
                <a:srgbClr val="5FBBF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r>
              <a:rPr lang="en-US" sz="40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Relational Algebra (Composition)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Content Placeholder 4">
                <a:extLst>
                  <a:ext uri="{FF2B5EF4-FFF2-40B4-BE49-F238E27FC236}">
                    <a16:creationId xmlns:a16="http://schemas.microsoft.com/office/drawing/2014/main" id="{85B37E25-6632-A0EE-3890-94A273FFE7E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01979" y="945574"/>
                <a:ext cx="11193781" cy="2719960"/>
              </a:xfrm>
              <a:solidFill>
                <a:srgbClr val="E7E7E7"/>
              </a:solidFill>
              <a:ln>
                <a:noFill/>
              </a:ln>
              <a:effectLst>
                <a:softEdge rad="0"/>
              </a:effectLst>
            </p:spPr>
            <p:txBody>
              <a:bodyPr lIns="182880" tIns="182880">
                <a:noAutofit/>
              </a:bodyPr>
              <a:lstStyle/>
              <a:p>
                <a:pPr marL="0" indent="0"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relational-algebra operations can be composed together into a </a:t>
                </a:r>
                <a:r>
                  <a:rPr lang="en-US" sz="2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relational-algebra expression</a:t>
                </a:r>
              </a:p>
              <a:p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Find the names of all instructors in the Physics department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242021"/>
                    </a:solidFill>
                    <a:ea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l-GR" sz="2000" i="1">
                        <a:solidFill>
                          <a:srgbClr val="24202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en-US" sz="2000" baseline="-25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name </a:t>
                </a:r>
                <a:r>
                  <a:rPr lang="en-US" sz="2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sz="2000" dirty="0" err="1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σ</a:t>
                </a:r>
                <a:r>
                  <a:rPr lang="en-US" sz="2000" baseline="-25000" dirty="0" err="1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dept_name</a:t>
                </a:r>
                <a:r>
                  <a:rPr lang="en-US" sz="2000" baseline="-25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= “Physics”</a:t>
                </a:r>
                <a:r>
                  <a:rPr lang="en-US" sz="2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(instructor))</a:t>
                </a:r>
              </a:p>
              <a:p>
                <a:pPr marL="0" indent="0">
                  <a:buNone/>
                </a:pPr>
                <a:endParaRPr lang="en-US" sz="2000" b="0" i="0" dirty="0">
                  <a:solidFill>
                    <a:srgbClr val="24202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US" sz="2000" dirty="0">
                  <a:solidFill>
                    <a:srgbClr val="24202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sz="2000" b="0" i="0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Note: you can combine these operations because the output of every operation is a relation</a:t>
                </a:r>
              </a:p>
            </p:txBody>
          </p:sp>
        </mc:Choice>
        <mc:Fallback xmlns="">
          <p:sp>
            <p:nvSpPr>
              <p:cNvPr id="117" name="Content Placeholder 4">
                <a:extLst>
                  <a:ext uri="{FF2B5EF4-FFF2-40B4-BE49-F238E27FC236}">
                    <a16:creationId xmlns:a16="http://schemas.microsoft.com/office/drawing/2014/main" id="{85B37E25-6632-A0EE-3890-94A273FFE7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01979" y="945574"/>
                <a:ext cx="11193781" cy="2719960"/>
              </a:xfr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softEdge rad="0"/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23A12E9-0ED1-BCDB-B8AC-C1AF7AB18F98}"/>
              </a:ext>
            </a:extLst>
          </p:cNvPr>
          <p:cNvSpPr txBox="1"/>
          <p:nvPr/>
        </p:nvSpPr>
        <p:spPr>
          <a:xfrm>
            <a:off x="601979" y="3665534"/>
            <a:ext cx="10512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instructor</a:t>
            </a:r>
          </a:p>
        </p:txBody>
      </p:sp>
      <p:graphicFrame>
        <p:nvGraphicFramePr>
          <p:cNvPr id="13" name="object 10">
            <a:extLst>
              <a:ext uri="{FF2B5EF4-FFF2-40B4-BE49-F238E27FC236}">
                <a16:creationId xmlns:a16="http://schemas.microsoft.com/office/drawing/2014/main" id="{4272D28C-340E-6AE2-CB5B-42AF0D218DC0}"/>
              </a:ext>
            </a:extLst>
          </p:cNvPr>
          <p:cNvGraphicFramePr>
            <a:graphicFrameLocks noGrp="1"/>
          </p:cNvGraphicFramePr>
          <p:nvPr/>
        </p:nvGraphicFramePr>
        <p:xfrm>
          <a:off x="704992" y="3951890"/>
          <a:ext cx="2999852" cy="27953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8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1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6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65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dept</a:t>
                      </a:r>
                      <a:r>
                        <a:rPr sz="1200" i="1" spc="-4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salary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069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Srinivasan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2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65000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12121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Wu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90000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15151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Mozart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Music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22222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Einstein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Physics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95000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32343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</a:t>
                      </a: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60000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32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33456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Physics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87000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32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45565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Katz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2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75000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58583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Califieri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62000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76543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Singh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76766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Crick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72000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Brandt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2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92000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089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98345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Kim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Elec.</a:t>
                      </a: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Eng.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5" name="object 5">
            <a:extLst>
              <a:ext uri="{FF2B5EF4-FFF2-40B4-BE49-F238E27FC236}">
                <a16:creationId xmlns:a16="http://schemas.microsoft.com/office/drawing/2014/main" id="{4664C421-DE7A-FD17-69CA-BE2BFB9EB6D8}"/>
              </a:ext>
            </a:extLst>
          </p:cNvPr>
          <p:cNvGraphicFramePr>
            <a:graphicFrameLocks noGrp="1"/>
          </p:cNvGraphicFramePr>
          <p:nvPr/>
        </p:nvGraphicFramePr>
        <p:xfrm>
          <a:off x="7897497" y="3951890"/>
          <a:ext cx="3692524" cy="28117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4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4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6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964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course</a:t>
                      </a: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title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dept</a:t>
                      </a: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credits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907">
                <a:tc>
                  <a:txBody>
                    <a:bodyPr/>
                    <a:lstStyle/>
                    <a:p>
                      <a:pPr marR="26670"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Intro.</a:t>
                      </a:r>
                      <a:r>
                        <a:rPr sz="1100" spc="-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20955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Genetics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12700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399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Computational</a:t>
                      </a:r>
                      <a:r>
                        <a:rPr sz="1100" spc="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9080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Intro.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Computer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Science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81280" algn="ctr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Game</a:t>
                      </a:r>
                      <a:r>
                        <a:rPr sz="1100" spc="-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Design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9461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Robotics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9207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Image</a:t>
                      </a: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Processing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8572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Database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System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Concepts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91440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EE-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Intro.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</a:t>
                      </a:r>
                      <a:r>
                        <a:rPr sz="1100" spc="-1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Digital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Systems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Elec.</a:t>
                      </a:r>
                      <a:r>
                        <a:rPr sz="1100" spc="-3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Eng.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19685" algn="ctr">
                        <a:lnSpc>
                          <a:spcPts val="1195"/>
                        </a:lnSpc>
                      </a:pP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FIN-201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Investment</a:t>
                      </a: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Banking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33020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World</a:t>
                      </a:r>
                      <a:r>
                        <a:rPr sz="1100" spc="-3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26670" algn="ctr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Music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Video</a:t>
                      </a:r>
                      <a:r>
                        <a:rPr sz="1100" spc="-4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Production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Music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4013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spc="-7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Physical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Principles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6C458661-0123-DF3A-8E4A-3CECDF9660CB}"/>
              </a:ext>
            </a:extLst>
          </p:cNvPr>
          <p:cNvSpPr txBox="1"/>
          <p:nvPr/>
        </p:nvSpPr>
        <p:spPr>
          <a:xfrm>
            <a:off x="7794484" y="3665534"/>
            <a:ext cx="7950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course</a:t>
            </a:r>
          </a:p>
        </p:txBody>
      </p:sp>
      <p:graphicFrame>
        <p:nvGraphicFramePr>
          <p:cNvPr id="17" name="object 12">
            <a:extLst>
              <a:ext uri="{FF2B5EF4-FFF2-40B4-BE49-F238E27FC236}">
                <a16:creationId xmlns:a16="http://schemas.microsoft.com/office/drawing/2014/main" id="{D7D2A610-6DF9-1653-9223-EFE24472E152}"/>
              </a:ext>
            </a:extLst>
          </p:cNvPr>
          <p:cNvGraphicFramePr>
            <a:graphicFrameLocks noGrp="1"/>
          </p:cNvGraphicFramePr>
          <p:nvPr/>
        </p:nvGraphicFramePr>
        <p:xfrm>
          <a:off x="4259068" y="3951890"/>
          <a:ext cx="3084205" cy="2852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8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7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25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58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course</a:t>
                      </a:r>
                      <a:r>
                        <a:rPr sz="1200" i="1" spc="-1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sec</a:t>
                      </a: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semester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year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172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315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12121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FIN-201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15151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22222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7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32343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45565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45565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76766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Summer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76766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Summer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9878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98345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EE-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58E1E8BF-500A-ADFB-67CE-7533C9056786}"/>
              </a:ext>
            </a:extLst>
          </p:cNvPr>
          <p:cNvSpPr txBox="1"/>
          <p:nvPr/>
        </p:nvSpPr>
        <p:spPr>
          <a:xfrm>
            <a:off x="4166215" y="3665534"/>
            <a:ext cx="8937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teaches</a:t>
            </a:r>
          </a:p>
        </p:txBody>
      </p:sp>
    </p:spTree>
    <p:extLst>
      <p:ext uri="{BB962C8B-B14F-4D97-AF65-F5344CB8AC3E}">
        <p14:creationId xmlns:p14="http://schemas.microsoft.com/office/powerpoint/2010/main" val="2565822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311E0-D681-6512-D6B0-C3507ADB1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70ABE7A-692A-AF27-D814-B4B53155B905}"/>
              </a:ext>
            </a:extLst>
          </p:cNvPr>
          <p:cNvSpPr/>
          <p:nvPr/>
        </p:nvSpPr>
        <p:spPr>
          <a:xfrm>
            <a:off x="0" y="0"/>
            <a:ext cx="12192000" cy="843280"/>
          </a:xfrm>
          <a:prstGeom prst="rect">
            <a:avLst/>
          </a:prstGeom>
          <a:gradFill>
            <a:gsLst>
              <a:gs pos="0">
                <a:srgbClr val="008EF8"/>
              </a:gs>
              <a:gs pos="100000">
                <a:srgbClr val="5FBBF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r>
              <a:rPr lang="en-US" sz="40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Relational Algebra (Cartesian-product)</a:t>
            </a:r>
          </a:p>
        </p:txBody>
      </p:sp>
      <p:sp>
        <p:nvSpPr>
          <p:cNvPr id="117" name="Content Placeholder 4">
            <a:extLst>
              <a:ext uri="{FF2B5EF4-FFF2-40B4-BE49-F238E27FC236}">
                <a16:creationId xmlns:a16="http://schemas.microsoft.com/office/drawing/2014/main" id="{B4F71D7C-B90D-F474-CB4C-C56F53D63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1979" y="945574"/>
            <a:ext cx="11193781" cy="2719960"/>
          </a:xfrm>
          <a:solidFill>
            <a:srgbClr val="E7E7E7"/>
          </a:solidFill>
          <a:ln>
            <a:noFill/>
          </a:ln>
          <a:effectLst>
            <a:softEdge rad="0"/>
          </a:effectLst>
        </p:spPr>
        <p:txBody>
          <a:bodyPr lIns="182880" tIns="182880"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Cartesian-product: combine two relations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420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instructor × teaches</a:t>
            </a:r>
            <a:endParaRPr lang="en-US" sz="2000" b="0" i="0" dirty="0">
              <a:solidFill>
                <a:srgbClr val="24202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420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schema = (instructor.ID, name, dept name, salary, teaches.ID, course id, sec id, semester, year)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24202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n1 tuples in r1, n2 tuples in r2 =&gt; n1 * n2 tuples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A05836-69FB-34AD-5315-6B2E0A6A459F}"/>
              </a:ext>
            </a:extLst>
          </p:cNvPr>
          <p:cNvSpPr txBox="1"/>
          <p:nvPr/>
        </p:nvSpPr>
        <p:spPr>
          <a:xfrm>
            <a:off x="601979" y="3665534"/>
            <a:ext cx="10512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instructor</a:t>
            </a:r>
          </a:p>
        </p:txBody>
      </p:sp>
      <p:graphicFrame>
        <p:nvGraphicFramePr>
          <p:cNvPr id="13" name="object 10">
            <a:extLst>
              <a:ext uri="{FF2B5EF4-FFF2-40B4-BE49-F238E27FC236}">
                <a16:creationId xmlns:a16="http://schemas.microsoft.com/office/drawing/2014/main" id="{1EEB972D-C603-7F51-30FB-E3A3C105BD17}"/>
              </a:ext>
            </a:extLst>
          </p:cNvPr>
          <p:cNvGraphicFramePr>
            <a:graphicFrameLocks noGrp="1"/>
          </p:cNvGraphicFramePr>
          <p:nvPr/>
        </p:nvGraphicFramePr>
        <p:xfrm>
          <a:off x="704992" y="3951890"/>
          <a:ext cx="2999852" cy="27953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8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1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6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65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dept</a:t>
                      </a:r>
                      <a:r>
                        <a:rPr sz="1200" i="1" spc="-4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salary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069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Srinivasan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2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65000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12121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Wu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90000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15151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Mozart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Music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22222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Einstein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Physics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95000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32343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</a:t>
                      </a: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60000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32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33456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Physics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87000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32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45565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Katz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2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75000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58583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Califieri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62000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76543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Singh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76766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Crick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72000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Brandt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2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92000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089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98345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Kim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Elec.</a:t>
                      </a: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Eng.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5" name="object 5">
            <a:extLst>
              <a:ext uri="{FF2B5EF4-FFF2-40B4-BE49-F238E27FC236}">
                <a16:creationId xmlns:a16="http://schemas.microsoft.com/office/drawing/2014/main" id="{6D545073-761D-AEF4-DC62-0BBAAED1455B}"/>
              </a:ext>
            </a:extLst>
          </p:cNvPr>
          <p:cNvGraphicFramePr>
            <a:graphicFrameLocks noGrp="1"/>
          </p:cNvGraphicFramePr>
          <p:nvPr/>
        </p:nvGraphicFramePr>
        <p:xfrm>
          <a:off x="7897497" y="3951890"/>
          <a:ext cx="3692524" cy="28117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4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4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6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964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course</a:t>
                      </a: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title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dept</a:t>
                      </a: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credits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907">
                <a:tc>
                  <a:txBody>
                    <a:bodyPr/>
                    <a:lstStyle/>
                    <a:p>
                      <a:pPr marR="26670"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Intro.</a:t>
                      </a:r>
                      <a:r>
                        <a:rPr sz="1100" spc="-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20955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Genetics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12700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399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Computational</a:t>
                      </a:r>
                      <a:r>
                        <a:rPr sz="1100" spc="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9080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Intro.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Computer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Science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81280" algn="ctr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Game</a:t>
                      </a:r>
                      <a:r>
                        <a:rPr sz="1100" spc="-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Design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9461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Robotics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9207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Image</a:t>
                      </a: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Processing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8572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Database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System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Concepts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91440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EE-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Intro.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</a:t>
                      </a:r>
                      <a:r>
                        <a:rPr sz="1100" spc="-1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Digital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Systems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Elec.</a:t>
                      </a:r>
                      <a:r>
                        <a:rPr sz="1100" spc="-3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Eng.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19685" algn="ctr">
                        <a:lnSpc>
                          <a:spcPts val="1195"/>
                        </a:lnSpc>
                      </a:pP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FIN-201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Investment</a:t>
                      </a: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Banking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33020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World</a:t>
                      </a:r>
                      <a:r>
                        <a:rPr sz="1100" spc="-3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26670" algn="ctr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Music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Video</a:t>
                      </a:r>
                      <a:r>
                        <a:rPr sz="1100" spc="-4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Production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Music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4013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spc="-7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Physical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Principles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5F1A1C3-4F6E-F970-645E-FAB801CD9DA3}"/>
              </a:ext>
            </a:extLst>
          </p:cNvPr>
          <p:cNvSpPr txBox="1"/>
          <p:nvPr/>
        </p:nvSpPr>
        <p:spPr>
          <a:xfrm>
            <a:off x="7794484" y="3665534"/>
            <a:ext cx="7950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course</a:t>
            </a:r>
          </a:p>
        </p:txBody>
      </p:sp>
      <p:graphicFrame>
        <p:nvGraphicFramePr>
          <p:cNvPr id="17" name="object 12">
            <a:extLst>
              <a:ext uri="{FF2B5EF4-FFF2-40B4-BE49-F238E27FC236}">
                <a16:creationId xmlns:a16="http://schemas.microsoft.com/office/drawing/2014/main" id="{65347C56-0B9E-B295-4CFF-4E71AF6B6160}"/>
              </a:ext>
            </a:extLst>
          </p:cNvPr>
          <p:cNvGraphicFramePr>
            <a:graphicFrameLocks noGrp="1"/>
          </p:cNvGraphicFramePr>
          <p:nvPr/>
        </p:nvGraphicFramePr>
        <p:xfrm>
          <a:off x="4259068" y="3951890"/>
          <a:ext cx="3084205" cy="2852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8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7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25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58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course</a:t>
                      </a:r>
                      <a:r>
                        <a:rPr sz="1200" i="1" spc="-1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sec</a:t>
                      </a: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semester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year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172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315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12121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FIN-201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15151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22222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7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32343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45565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45565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76766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Summer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76766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Summer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9878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98345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EE-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DCAD6D6A-2F78-9E82-5DF6-5EFFD031F9BA}"/>
              </a:ext>
            </a:extLst>
          </p:cNvPr>
          <p:cNvSpPr txBox="1"/>
          <p:nvPr/>
        </p:nvSpPr>
        <p:spPr>
          <a:xfrm>
            <a:off x="4166215" y="3665534"/>
            <a:ext cx="8937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teaches</a:t>
            </a:r>
          </a:p>
        </p:txBody>
      </p:sp>
    </p:spTree>
    <p:extLst>
      <p:ext uri="{BB962C8B-B14F-4D97-AF65-F5344CB8AC3E}">
        <p14:creationId xmlns:p14="http://schemas.microsoft.com/office/powerpoint/2010/main" val="3572673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3BE45-4AD8-82C0-5ADE-8CD18ECFA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287F10-EAC3-2ABE-9135-3C3A2C47C711}"/>
              </a:ext>
            </a:extLst>
          </p:cNvPr>
          <p:cNvSpPr/>
          <p:nvPr/>
        </p:nvSpPr>
        <p:spPr>
          <a:xfrm>
            <a:off x="0" y="0"/>
            <a:ext cx="12192000" cy="843280"/>
          </a:xfrm>
          <a:prstGeom prst="rect">
            <a:avLst/>
          </a:prstGeom>
          <a:gradFill>
            <a:gsLst>
              <a:gs pos="0">
                <a:srgbClr val="008EF8"/>
              </a:gs>
              <a:gs pos="100000">
                <a:srgbClr val="5FBBF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r>
              <a:rPr lang="en-US" sz="40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Relational Algebra (Join)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Content Placeholder 4">
                <a:extLst>
                  <a:ext uri="{FF2B5EF4-FFF2-40B4-BE49-F238E27FC236}">
                    <a16:creationId xmlns:a16="http://schemas.microsoft.com/office/drawing/2014/main" id="{060FEB81-F2D8-F444-AF90-AF45346193C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01979" y="945574"/>
                <a:ext cx="11193781" cy="2719960"/>
              </a:xfrm>
              <a:solidFill>
                <a:srgbClr val="E7E7E7"/>
              </a:solidFill>
              <a:ln>
                <a:noFill/>
              </a:ln>
              <a:effectLst>
                <a:softEdge rad="0"/>
              </a:effectLst>
            </p:spPr>
            <p:txBody>
              <a:bodyPr lIns="182880" tIns="182880">
                <a:noAutofit/>
              </a:bodyPr>
              <a:lstStyle/>
              <a:p>
                <a:pPr marL="0" indent="0"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Cartesian product associates every instructor with every course that was taught, regardless of whether that instructor taught that course. (so we want to make some filtering on the output)</a:t>
                </a:r>
              </a:p>
              <a:p>
                <a:r>
                  <a:rPr lang="en-US" sz="2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Select ID and name of instructor corresponding with their course id.</a:t>
                </a:r>
              </a:p>
              <a:p>
                <a:pPr marL="0" indent="0">
                  <a:buNone/>
                </a:pPr>
                <a:r>
                  <a:rPr lang="en-US" sz="2000" dirty="0"/>
                  <a:t>	</a:t>
                </a:r>
                <a:r>
                  <a:rPr lang="el-GR" sz="2000" dirty="0">
                    <a:solidFill>
                      <a:srgbClr val="242021"/>
                    </a:solidFill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2000" i="1">
                        <a:solidFill>
                          <a:srgbClr val="24202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en-US" sz="2000" baseline="-25000" dirty="0"/>
                  <a:t>instructor.ID, name, </a:t>
                </a:r>
                <a:r>
                  <a:rPr lang="en-US" sz="2000" baseline="-25000" dirty="0" err="1"/>
                  <a:t>course_id</a:t>
                </a:r>
                <a:r>
                  <a:rPr lang="en-US" sz="2000" dirty="0"/>
                  <a:t>(σ</a:t>
                </a:r>
                <a:r>
                  <a:rPr lang="en-US" sz="2000" i="1" baseline="-25000" dirty="0"/>
                  <a:t>instructor.ID </a:t>
                </a:r>
                <a:r>
                  <a:rPr lang="en-US" sz="2000" baseline="-25000" dirty="0"/>
                  <a:t>= </a:t>
                </a:r>
                <a:r>
                  <a:rPr lang="en-US" sz="2000" i="1" baseline="-25000" dirty="0"/>
                  <a:t>teaches.ID</a:t>
                </a:r>
                <a:r>
                  <a:rPr lang="en-US" sz="2000" dirty="0"/>
                  <a:t>(</a:t>
                </a:r>
                <a:r>
                  <a:rPr lang="en-US" sz="2000" i="1" dirty="0"/>
                  <a:t>instructor </a:t>
                </a:r>
                <a:r>
                  <a:rPr lang="en-US" sz="2000" dirty="0"/>
                  <a:t>× </a:t>
                </a:r>
                <a:r>
                  <a:rPr lang="en-US" sz="2000" i="1" dirty="0"/>
                  <a:t>teaches</a:t>
                </a:r>
                <a:r>
                  <a:rPr lang="en-US" sz="2000" dirty="0"/>
                  <a:t>))</a:t>
                </a:r>
              </a:p>
              <a:p>
                <a:r>
                  <a:rPr lang="en-US" sz="18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theta join operation allows us to combine a selection and a Cartesian product into a single operation.</a:t>
                </a:r>
              </a:p>
              <a:p>
                <a:pPr marL="0" indent="0">
                  <a:buNone/>
                </a:pPr>
                <a:r>
                  <a:rPr lang="pt-BR" sz="2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	r ⋈</a:t>
                </a:r>
                <a:r>
                  <a:rPr lang="pt-BR" sz="2000" baseline="-25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θ</a:t>
                </a:r>
                <a:r>
                  <a:rPr lang="pt-BR" sz="2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 = σ</a:t>
                </a:r>
                <a:r>
                  <a:rPr lang="pt-BR" sz="2000" baseline="-25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θ</a:t>
                </a:r>
                <a:r>
                  <a:rPr lang="pt-BR" sz="2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(r × s)  =&gt;  </a:t>
                </a:r>
                <a:r>
                  <a:rPr lang="en-US" sz="2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instructor ⋈</a:t>
                </a:r>
                <a:r>
                  <a:rPr lang="en-US" sz="2000" baseline="-25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instructor.ID = teaches.ID</a:t>
                </a:r>
                <a:r>
                  <a:rPr lang="en-US" sz="2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teaches</a:t>
                </a:r>
                <a:endParaRPr lang="en-US" sz="2000" dirty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Different types of join operation will be introduced later</a:t>
                </a:r>
              </a:p>
            </p:txBody>
          </p:sp>
        </mc:Choice>
        <mc:Fallback xmlns="">
          <p:sp>
            <p:nvSpPr>
              <p:cNvPr id="117" name="Content Placeholder 4">
                <a:extLst>
                  <a:ext uri="{FF2B5EF4-FFF2-40B4-BE49-F238E27FC236}">
                    <a16:creationId xmlns:a16="http://schemas.microsoft.com/office/drawing/2014/main" id="{060FEB81-F2D8-F444-AF90-AF45346193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01979" y="945574"/>
                <a:ext cx="11193781" cy="2719960"/>
              </a:xfrm>
              <a:blipFill>
                <a:blip r:embed="rId3"/>
                <a:stretch>
                  <a:fillRect b="-5605"/>
                </a:stretch>
              </a:blipFill>
              <a:ln>
                <a:noFill/>
              </a:ln>
              <a:effectLst>
                <a:softEdge rad="0"/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117CF79-46C3-EE09-7218-8168A04F4651}"/>
              </a:ext>
            </a:extLst>
          </p:cNvPr>
          <p:cNvSpPr txBox="1"/>
          <p:nvPr/>
        </p:nvSpPr>
        <p:spPr>
          <a:xfrm>
            <a:off x="601979" y="3665534"/>
            <a:ext cx="10512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instructor</a:t>
            </a:r>
          </a:p>
        </p:txBody>
      </p:sp>
      <p:graphicFrame>
        <p:nvGraphicFramePr>
          <p:cNvPr id="13" name="object 10">
            <a:extLst>
              <a:ext uri="{FF2B5EF4-FFF2-40B4-BE49-F238E27FC236}">
                <a16:creationId xmlns:a16="http://schemas.microsoft.com/office/drawing/2014/main" id="{29958B8A-4E5E-35B2-3766-147EA7990C29}"/>
              </a:ext>
            </a:extLst>
          </p:cNvPr>
          <p:cNvGraphicFramePr>
            <a:graphicFrameLocks noGrp="1"/>
          </p:cNvGraphicFramePr>
          <p:nvPr/>
        </p:nvGraphicFramePr>
        <p:xfrm>
          <a:off x="704992" y="3951890"/>
          <a:ext cx="2999852" cy="27953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8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1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6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65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dept</a:t>
                      </a:r>
                      <a:r>
                        <a:rPr sz="1200" i="1" spc="-4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salary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069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Srinivasan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2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65000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12121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Wu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90000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15151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Mozart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Music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22222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Einstein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Physics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95000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32343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</a:t>
                      </a: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60000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32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33456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Physics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87000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32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45565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Katz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2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75000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58583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Califieri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62000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76543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Singh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76766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Crick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72000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Brandt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2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92000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089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98345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Kim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Elec.</a:t>
                      </a: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Eng.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5" name="object 5">
            <a:extLst>
              <a:ext uri="{FF2B5EF4-FFF2-40B4-BE49-F238E27FC236}">
                <a16:creationId xmlns:a16="http://schemas.microsoft.com/office/drawing/2014/main" id="{FAD6D8ED-C8A8-9685-56EA-5C1026EF0AD2}"/>
              </a:ext>
            </a:extLst>
          </p:cNvPr>
          <p:cNvGraphicFramePr>
            <a:graphicFrameLocks noGrp="1"/>
          </p:cNvGraphicFramePr>
          <p:nvPr/>
        </p:nvGraphicFramePr>
        <p:xfrm>
          <a:off x="7897497" y="3951890"/>
          <a:ext cx="3692524" cy="28117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4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4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6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964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course</a:t>
                      </a: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title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dept</a:t>
                      </a: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credits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907">
                <a:tc>
                  <a:txBody>
                    <a:bodyPr/>
                    <a:lstStyle/>
                    <a:p>
                      <a:pPr marR="26670"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Intro.</a:t>
                      </a:r>
                      <a:r>
                        <a:rPr sz="1100" spc="-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20955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Genetics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12700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399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Computational</a:t>
                      </a:r>
                      <a:r>
                        <a:rPr sz="1100" spc="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9080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Intro.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Computer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Science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81280" algn="ctr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Game</a:t>
                      </a:r>
                      <a:r>
                        <a:rPr sz="1100" spc="-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Design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9461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Robotics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9207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Image</a:t>
                      </a: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Processing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8572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Database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System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Concepts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91440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EE-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Intro.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</a:t>
                      </a:r>
                      <a:r>
                        <a:rPr sz="1100" spc="-1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Digital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Systems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Elec.</a:t>
                      </a:r>
                      <a:r>
                        <a:rPr sz="1100" spc="-3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Eng.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19685" algn="ctr">
                        <a:lnSpc>
                          <a:spcPts val="1195"/>
                        </a:lnSpc>
                      </a:pP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FIN-201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Investment</a:t>
                      </a: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Banking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33020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World</a:t>
                      </a:r>
                      <a:r>
                        <a:rPr sz="1100" spc="-3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26670" algn="ctr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Music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Video</a:t>
                      </a:r>
                      <a:r>
                        <a:rPr sz="1100" spc="-4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Production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Music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4013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spc="-7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Physical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Principles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1897555-9BFD-EADA-56DA-4CB79EE01E0E}"/>
              </a:ext>
            </a:extLst>
          </p:cNvPr>
          <p:cNvSpPr txBox="1"/>
          <p:nvPr/>
        </p:nvSpPr>
        <p:spPr>
          <a:xfrm>
            <a:off x="7794484" y="3665534"/>
            <a:ext cx="7950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course</a:t>
            </a:r>
          </a:p>
        </p:txBody>
      </p:sp>
      <p:graphicFrame>
        <p:nvGraphicFramePr>
          <p:cNvPr id="17" name="object 12">
            <a:extLst>
              <a:ext uri="{FF2B5EF4-FFF2-40B4-BE49-F238E27FC236}">
                <a16:creationId xmlns:a16="http://schemas.microsoft.com/office/drawing/2014/main" id="{2CC5EFC6-9E86-B840-254D-943A8C05334E}"/>
              </a:ext>
            </a:extLst>
          </p:cNvPr>
          <p:cNvGraphicFramePr>
            <a:graphicFrameLocks noGrp="1"/>
          </p:cNvGraphicFramePr>
          <p:nvPr/>
        </p:nvGraphicFramePr>
        <p:xfrm>
          <a:off x="4259068" y="3951890"/>
          <a:ext cx="3084205" cy="2852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8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7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25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58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course</a:t>
                      </a:r>
                      <a:r>
                        <a:rPr sz="1200" i="1" spc="-1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sec</a:t>
                      </a: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semester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year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172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315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12121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FIN-201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15151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22222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7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32343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45565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45565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76766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Summer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76766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Summer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9878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98345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EE-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7B32B40D-2DC7-77D0-093C-E55246B348BC}"/>
              </a:ext>
            </a:extLst>
          </p:cNvPr>
          <p:cNvSpPr txBox="1"/>
          <p:nvPr/>
        </p:nvSpPr>
        <p:spPr>
          <a:xfrm>
            <a:off x="4166215" y="3665534"/>
            <a:ext cx="8937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teaches</a:t>
            </a:r>
          </a:p>
        </p:txBody>
      </p:sp>
    </p:spTree>
    <p:extLst>
      <p:ext uri="{BB962C8B-B14F-4D97-AF65-F5344CB8AC3E}">
        <p14:creationId xmlns:p14="http://schemas.microsoft.com/office/powerpoint/2010/main" val="1690307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5037A-B6B4-1855-7B1D-168BE8908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2C0982-CEE0-0F9E-0BBC-40A0966D45F3}"/>
              </a:ext>
            </a:extLst>
          </p:cNvPr>
          <p:cNvSpPr/>
          <p:nvPr/>
        </p:nvSpPr>
        <p:spPr>
          <a:xfrm>
            <a:off x="0" y="0"/>
            <a:ext cx="12192000" cy="843280"/>
          </a:xfrm>
          <a:prstGeom prst="rect">
            <a:avLst/>
          </a:prstGeom>
          <a:gradFill>
            <a:gsLst>
              <a:gs pos="0">
                <a:srgbClr val="008EF8"/>
              </a:gs>
              <a:gs pos="100000">
                <a:srgbClr val="5FBBF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r>
              <a:rPr lang="en-US" sz="40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Relational Algebra (Union operation)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Content Placeholder 4">
                <a:extLst>
                  <a:ext uri="{FF2B5EF4-FFF2-40B4-BE49-F238E27FC236}">
                    <a16:creationId xmlns:a16="http://schemas.microsoft.com/office/drawing/2014/main" id="{7B568FBF-E0C5-9B72-C146-CAB1A3D6579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01979" y="945574"/>
                <a:ext cx="11193781" cy="2719960"/>
              </a:xfrm>
              <a:solidFill>
                <a:srgbClr val="E7E7E7"/>
              </a:solidFill>
              <a:ln>
                <a:noFill/>
              </a:ln>
              <a:effectLst>
                <a:softEdge rad="0"/>
              </a:effectLst>
            </p:spPr>
            <p:txBody>
              <a:bodyPr lIns="182880" tIns="182880">
                <a:noAutofit/>
              </a:bodyPr>
              <a:lstStyle/>
              <a:p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find the set of all courses taught in the Fall 2017 semester </a:t>
                </a:r>
                <a:endParaRPr lang="en-US" sz="2000" i="1" dirty="0">
                  <a:solidFill>
                    <a:srgbClr val="24202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sz="2000" i="1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l-GR" sz="2000" i="1" smtClean="0">
                        <a:solidFill>
                          <a:srgbClr val="24202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𝜋</m:t>
                    </m:r>
                    <m:r>
                      <a:rPr lang="el-GR" sz="2000" i="1" smtClean="0">
                        <a:solidFill>
                          <a:srgbClr val="24202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2000" b="0" i="1" baseline="-25000" dirty="0" err="1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course_id</a:t>
                </a:r>
                <a:r>
                  <a:rPr lang="en-US" sz="2000" b="0" i="1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b="0" i="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sz="2000" b="0" i="0" dirty="0" err="1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σ</a:t>
                </a:r>
                <a:r>
                  <a:rPr lang="en-US" sz="2000" b="0" i="1" baseline="-25000" dirty="0" err="1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semester</a:t>
                </a:r>
                <a:r>
                  <a:rPr lang="en-US" sz="2000" b="0" i="1" baseline="-2500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b="0" i="0" baseline="-2500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= “Fall” ∧ </a:t>
                </a:r>
                <a:r>
                  <a:rPr lang="en-US" sz="2000" b="0" i="1" baseline="-2500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year</a:t>
                </a:r>
                <a:r>
                  <a:rPr lang="en-US" sz="2000" b="0" i="0" baseline="-2500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=2017</a:t>
                </a:r>
                <a:r>
                  <a:rPr lang="en-US" sz="2000" b="0" i="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sz="2000" b="0" i="1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section</a:t>
                </a:r>
                <a:r>
                  <a:rPr lang="en-US" sz="2000" b="0" i="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))</a:t>
                </a: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457200" lvl="1" indent="0">
                  <a:buNone/>
                </a:pPr>
                <a:endParaRPr lang="en-US" sz="2000" dirty="0"/>
              </a:p>
              <a:p>
                <a:pPr marL="231775" lvl="1"/>
                <a:r>
                  <a:rPr lang="en-US" sz="2000" dirty="0"/>
                  <a:t>set of all courses taught in the Spring 2018 semester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l-GR" sz="2000" i="1" smtClean="0">
                        <a:solidFill>
                          <a:srgbClr val="24202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𝜋</m:t>
                    </m:r>
                    <m:r>
                      <a:rPr lang="el-GR" sz="2000" i="1" smtClean="0">
                        <a:solidFill>
                          <a:srgbClr val="24202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2000" b="0" i="1" baseline="-25000" dirty="0" err="1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course_id</a:t>
                </a:r>
                <a:r>
                  <a:rPr lang="en-US" sz="2000" b="0" i="1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b="0" i="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sz="2000" b="0" i="0" dirty="0" err="1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σ</a:t>
                </a:r>
                <a:r>
                  <a:rPr lang="en-US" sz="2000" b="0" i="1" baseline="-25000" dirty="0" err="1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semester</a:t>
                </a:r>
                <a:r>
                  <a:rPr lang="en-US" sz="2000" b="0" i="1" baseline="-2500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b="0" i="0" baseline="-2500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= “Spring” ∧ </a:t>
                </a:r>
                <a:r>
                  <a:rPr lang="en-US" sz="2000" b="0" i="1" baseline="-2500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year</a:t>
                </a:r>
                <a:r>
                  <a:rPr lang="en-US" sz="2000" b="0" i="0" baseline="-2500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=2018</a:t>
                </a:r>
                <a:r>
                  <a:rPr lang="en-US" sz="2000" b="0" i="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sz="2000" b="0" i="1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section</a:t>
                </a:r>
                <a:r>
                  <a:rPr lang="en-US" sz="2000" b="0" i="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))</a:t>
                </a: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r>
                  <a:rPr lang="en-US" sz="2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all courses taught in the Fall 2017 semester, the Spring 2018 semester, or both.</a:t>
                </a:r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sz="2000" i="1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l-GR" sz="2000" i="1" smtClean="0">
                        <a:solidFill>
                          <a:srgbClr val="24202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𝜋</m:t>
                    </m:r>
                    <m:r>
                      <a:rPr lang="el-GR" sz="2000" i="1" smtClean="0">
                        <a:solidFill>
                          <a:srgbClr val="24202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2000" b="0" i="1" baseline="-25000" dirty="0" err="1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course_id</a:t>
                </a:r>
                <a:r>
                  <a:rPr lang="en-US" sz="2000" b="0" i="1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b="0" i="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sz="2000" b="0" i="0" dirty="0" err="1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σ</a:t>
                </a:r>
                <a:r>
                  <a:rPr lang="en-US" sz="2000" b="0" i="1" baseline="-25000" dirty="0" err="1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semester</a:t>
                </a:r>
                <a:r>
                  <a:rPr lang="en-US" sz="2000" b="0" i="1" baseline="-2500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b="0" i="0" baseline="-2500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= “Fall” ∧ </a:t>
                </a:r>
                <a:r>
                  <a:rPr lang="en-US" sz="2000" b="0" i="1" baseline="-2500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year</a:t>
                </a:r>
                <a:r>
                  <a:rPr lang="en-US" sz="2000" b="0" i="0" baseline="-2500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=2017</a:t>
                </a:r>
                <a:r>
                  <a:rPr lang="en-US" sz="2000" b="0" i="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sz="2000" b="0" i="1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section</a:t>
                </a:r>
                <a:r>
                  <a:rPr lang="en-US" sz="2000" b="0" i="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))</a:t>
                </a: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∪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rgbClr val="24202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l-GR" sz="2000" i="1">
                        <a:solidFill>
                          <a:srgbClr val="24202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𝜋</m:t>
                    </m:r>
                    <m:r>
                      <a:rPr lang="el-GR" sz="2000" i="1">
                        <a:solidFill>
                          <a:srgbClr val="24202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2000" i="1" baseline="-25000" dirty="0" err="1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course_id</a:t>
                </a:r>
                <a:r>
                  <a:rPr lang="en-US" sz="2000" i="1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sz="2000" dirty="0" err="1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σ</a:t>
                </a:r>
                <a:r>
                  <a:rPr lang="en-US" sz="2000" i="1" baseline="-25000" dirty="0" err="1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semester</a:t>
                </a:r>
                <a:r>
                  <a:rPr lang="en-US" sz="2000" i="1" baseline="-25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baseline="-25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= “Spring” ∧ </a:t>
                </a:r>
                <a:r>
                  <a:rPr lang="en-US" sz="2000" i="1" baseline="-25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year</a:t>
                </a:r>
                <a:r>
                  <a:rPr lang="en-US" sz="2000" baseline="-25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=2018</a:t>
                </a:r>
                <a:r>
                  <a:rPr lang="en-US" sz="2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sz="2000" i="1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section</a:t>
                </a:r>
                <a:r>
                  <a:rPr lang="en-US" sz="2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))</a:t>
                </a: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sz="2000" dirty="0">
                  <a:solidFill>
                    <a:srgbClr val="24202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7" name="Content Placeholder 4">
                <a:extLst>
                  <a:ext uri="{FF2B5EF4-FFF2-40B4-BE49-F238E27FC236}">
                    <a16:creationId xmlns:a16="http://schemas.microsoft.com/office/drawing/2014/main" id="{7B568FBF-E0C5-9B72-C146-CAB1A3D657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01979" y="945574"/>
                <a:ext cx="11193781" cy="2719960"/>
              </a:xfrm>
              <a:blipFill>
                <a:blip r:embed="rId3"/>
                <a:stretch>
                  <a:fillRect b="-4709"/>
                </a:stretch>
              </a:blipFill>
              <a:ln>
                <a:noFill/>
              </a:ln>
              <a:effectLst>
                <a:softEdge rad="0"/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8972453-2BD7-E444-94B3-8259AAB3A677}"/>
              </a:ext>
            </a:extLst>
          </p:cNvPr>
          <p:cNvSpPr txBox="1"/>
          <p:nvPr/>
        </p:nvSpPr>
        <p:spPr>
          <a:xfrm>
            <a:off x="601979" y="3665534"/>
            <a:ext cx="10512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instructor</a:t>
            </a:r>
          </a:p>
        </p:txBody>
      </p:sp>
      <p:graphicFrame>
        <p:nvGraphicFramePr>
          <p:cNvPr id="13" name="object 10">
            <a:extLst>
              <a:ext uri="{FF2B5EF4-FFF2-40B4-BE49-F238E27FC236}">
                <a16:creationId xmlns:a16="http://schemas.microsoft.com/office/drawing/2014/main" id="{AD1452A9-F93B-3444-F66B-B4DB4B8592D1}"/>
              </a:ext>
            </a:extLst>
          </p:cNvPr>
          <p:cNvGraphicFramePr>
            <a:graphicFrameLocks noGrp="1"/>
          </p:cNvGraphicFramePr>
          <p:nvPr/>
        </p:nvGraphicFramePr>
        <p:xfrm>
          <a:off x="704992" y="3951890"/>
          <a:ext cx="2999852" cy="27953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8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1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6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65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dept</a:t>
                      </a:r>
                      <a:r>
                        <a:rPr sz="1200" i="1" spc="-4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salary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069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Srinivasan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2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65000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12121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Wu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90000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15151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Mozart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Music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22222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Einstein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Physics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95000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32343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</a:t>
                      </a: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60000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32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33456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Physics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87000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32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45565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Katz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2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75000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58583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Califieri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62000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76543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Singh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76766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Crick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72000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Brandt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2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92000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089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98345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Kim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Elec.</a:t>
                      </a: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Eng.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5" name="object 5">
            <a:extLst>
              <a:ext uri="{FF2B5EF4-FFF2-40B4-BE49-F238E27FC236}">
                <a16:creationId xmlns:a16="http://schemas.microsoft.com/office/drawing/2014/main" id="{3EEF6592-215F-1EEB-70F7-03EBABC01983}"/>
              </a:ext>
            </a:extLst>
          </p:cNvPr>
          <p:cNvGraphicFramePr>
            <a:graphicFrameLocks noGrp="1"/>
          </p:cNvGraphicFramePr>
          <p:nvPr/>
        </p:nvGraphicFramePr>
        <p:xfrm>
          <a:off x="7897497" y="3951890"/>
          <a:ext cx="3692524" cy="28117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4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4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6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964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course</a:t>
                      </a: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title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dept</a:t>
                      </a: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credits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907">
                <a:tc>
                  <a:txBody>
                    <a:bodyPr/>
                    <a:lstStyle/>
                    <a:p>
                      <a:pPr marR="26670"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Intro.</a:t>
                      </a:r>
                      <a:r>
                        <a:rPr sz="1100" spc="-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20955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Genetics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12700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399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Computational</a:t>
                      </a:r>
                      <a:r>
                        <a:rPr sz="1100" spc="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9080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Intro.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Computer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Science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81280" algn="ctr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Game</a:t>
                      </a:r>
                      <a:r>
                        <a:rPr sz="1100" spc="-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Design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9461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Robotics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9207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Image</a:t>
                      </a: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Processing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8572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Database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System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Concepts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91440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EE-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Intro.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</a:t>
                      </a:r>
                      <a:r>
                        <a:rPr sz="1100" spc="-1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Digital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Systems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Elec.</a:t>
                      </a:r>
                      <a:r>
                        <a:rPr sz="1100" spc="-3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Eng.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19685" algn="ctr">
                        <a:lnSpc>
                          <a:spcPts val="1195"/>
                        </a:lnSpc>
                      </a:pP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FIN-201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Investment</a:t>
                      </a: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Banking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33020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World</a:t>
                      </a:r>
                      <a:r>
                        <a:rPr sz="1100" spc="-3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26670" algn="ctr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Music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Video</a:t>
                      </a:r>
                      <a:r>
                        <a:rPr sz="1100" spc="-4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Production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Music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4013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spc="-7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Physical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Principles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82B01F2A-7407-9AF9-6FBF-EE9484428F43}"/>
              </a:ext>
            </a:extLst>
          </p:cNvPr>
          <p:cNvSpPr txBox="1"/>
          <p:nvPr/>
        </p:nvSpPr>
        <p:spPr>
          <a:xfrm>
            <a:off x="7794484" y="3665534"/>
            <a:ext cx="7950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course</a:t>
            </a:r>
          </a:p>
        </p:txBody>
      </p:sp>
      <p:graphicFrame>
        <p:nvGraphicFramePr>
          <p:cNvPr id="17" name="object 12">
            <a:extLst>
              <a:ext uri="{FF2B5EF4-FFF2-40B4-BE49-F238E27FC236}">
                <a16:creationId xmlns:a16="http://schemas.microsoft.com/office/drawing/2014/main" id="{E4C14564-0960-C93C-1E18-6870747DFFE7}"/>
              </a:ext>
            </a:extLst>
          </p:cNvPr>
          <p:cNvGraphicFramePr>
            <a:graphicFrameLocks noGrp="1"/>
          </p:cNvGraphicFramePr>
          <p:nvPr/>
        </p:nvGraphicFramePr>
        <p:xfrm>
          <a:off x="4259068" y="3951890"/>
          <a:ext cx="3084205" cy="2852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8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7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25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58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course</a:t>
                      </a:r>
                      <a:r>
                        <a:rPr sz="1200" i="1" spc="-1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sec</a:t>
                      </a: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semester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year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172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315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12121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FIN-201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15151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22222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7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32343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45565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45565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76766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Summer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76766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Summer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9878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98345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EE-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EE459D9C-9A36-B3BB-9C8C-DE5EF466411C}"/>
              </a:ext>
            </a:extLst>
          </p:cNvPr>
          <p:cNvSpPr txBox="1"/>
          <p:nvPr/>
        </p:nvSpPr>
        <p:spPr>
          <a:xfrm>
            <a:off x="4166215" y="3665534"/>
            <a:ext cx="8937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teaches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3FB32A-CDA2-2895-4635-486F816D4ABD}"/>
              </a:ext>
            </a:extLst>
          </p:cNvPr>
          <p:cNvSpPr txBox="1"/>
          <p:nvPr/>
        </p:nvSpPr>
        <p:spPr>
          <a:xfrm>
            <a:off x="7246370" y="1491454"/>
            <a:ext cx="4682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spc="-4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section</a:t>
            </a:r>
            <a:r>
              <a:rPr lang="en-US" spc="-4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i="1" u="sng" spc="-40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</a:t>
            </a:r>
            <a:r>
              <a:rPr lang="en-US" i="1" u="sng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id</a:t>
            </a:r>
            <a:r>
              <a:rPr lang="en-US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u="sng" spc="-4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</a:t>
            </a:r>
            <a:r>
              <a:rPr lang="en-US" i="1" u="sng" spc="-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u="sng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lang="en-US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u="sng" spc="-3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semester</a:t>
            </a:r>
            <a:r>
              <a:rPr lang="en-US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i="1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</a:t>
            </a:r>
            <a:r>
              <a:rPr lang="en-US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building</a:t>
            </a:r>
            <a:r>
              <a:rPr lang="en-US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</a:p>
          <a:p>
            <a:r>
              <a:rPr lang="en-US" i="1" spc="-4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room</a:t>
            </a:r>
            <a:r>
              <a:rPr lang="en-US" i="1" spc="-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</a:t>
            </a:r>
            <a:r>
              <a:rPr lang="en-US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</a:t>
            </a:r>
            <a:r>
              <a:rPr lang="en-US" i="1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slot</a:t>
            </a:r>
            <a:r>
              <a:rPr lang="en-US" i="1" spc="-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lang="en-US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3358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F0A99-B6F0-034F-64C0-DF980319F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05F146-496A-BFBB-E046-DB7D2DA5F757}"/>
              </a:ext>
            </a:extLst>
          </p:cNvPr>
          <p:cNvSpPr/>
          <p:nvPr/>
        </p:nvSpPr>
        <p:spPr>
          <a:xfrm>
            <a:off x="0" y="0"/>
            <a:ext cx="12192000" cy="843280"/>
          </a:xfrm>
          <a:prstGeom prst="rect">
            <a:avLst/>
          </a:prstGeom>
          <a:gradFill>
            <a:gsLst>
              <a:gs pos="0">
                <a:srgbClr val="008EF8"/>
              </a:gs>
              <a:gs pos="100000">
                <a:srgbClr val="5FBBF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r>
              <a:rPr lang="en-US" sz="40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Relational Algebra (Set operation)</a:t>
            </a:r>
          </a:p>
        </p:txBody>
      </p:sp>
      <p:sp>
        <p:nvSpPr>
          <p:cNvPr id="117" name="Content Placeholder 4">
            <a:extLst>
              <a:ext uri="{FF2B5EF4-FFF2-40B4-BE49-F238E27FC236}">
                <a16:creationId xmlns:a16="http://schemas.microsoft.com/office/drawing/2014/main" id="{0410705E-9039-FF7C-81DF-6D1785C159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1980" y="945574"/>
            <a:ext cx="11505140" cy="2719960"/>
          </a:xfrm>
          <a:solidFill>
            <a:srgbClr val="E7E7E7"/>
          </a:solidFill>
          <a:ln>
            <a:noFill/>
          </a:ln>
          <a:effectLst>
            <a:softEdge rad="0"/>
          </a:effectLst>
        </p:spPr>
        <p:txBody>
          <a:bodyPr lIns="182880" tIns="182880">
            <a:no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took the union of two sets, both of which consisted of course id values. In general, for a union operation to make sense: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must ensure that the input relations to the union operation have the same number of attributes.</a:t>
            </a:r>
          </a:p>
          <a:p>
            <a:pPr lvl="1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the attributes have associated types, the types of the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ith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attributes of both input relations must be the same, for each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lvl="1"/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 compatible relations )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000" dirty="0">
              <a:solidFill>
                <a:srgbClr val="24202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09D41B-BDB3-5F93-7213-B90D40F5A636}"/>
              </a:ext>
            </a:extLst>
          </p:cNvPr>
          <p:cNvSpPr txBox="1"/>
          <p:nvPr/>
        </p:nvSpPr>
        <p:spPr>
          <a:xfrm>
            <a:off x="601979" y="3665534"/>
            <a:ext cx="10512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instructor</a:t>
            </a:r>
          </a:p>
        </p:txBody>
      </p:sp>
      <p:graphicFrame>
        <p:nvGraphicFramePr>
          <p:cNvPr id="13" name="object 10">
            <a:extLst>
              <a:ext uri="{FF2B5EF4-FFF2-40B4-BE49-F238E27FC236}">
                <a16:creationId xmlns:a16="http://schemas.microsoft.com/office/drawing/2014/main" id="{010BDABE-F3C3-9A3B-EA35-89395473FF83}"/>
              </a:ext>
            </a:extLst>
          </p:cNvPr>
          <p:cNvGraphicFramePr>
            <a:graphicFrameLocks noGrp="1"/>
          </p:cNvGraphicFramePr>
          <p:nvPr/>
        </p:nvGraphicFramePr>
        <p:xfrm>
          <a:off x="704992" y="3951890"/>
          <a:ext cx="2999852" cy="27953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8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1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6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65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dept</a:t>
                      </a:r>
                      <a:r>
                        <a:rPr sz="1200" i="1" spc="-4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salary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069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Srinivasan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2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65000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12121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Wu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90000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15151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Mozart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Music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22222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Einstein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Physics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95000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32343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</a:t>
                      </a: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60000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32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33456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Physics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87000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32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45565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Katz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2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75000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58583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Califieri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62000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76543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Singh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76766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Crick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72000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Brandt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2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92000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089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98345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Kim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Elec.</a:t>
                      </a: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Eng.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5" name="object 5">
            <a:extLst>
              <a:ext uri="{FF2B5EF4-FFF2-40B4-BE49-F238E27FC236}">
                <a16:creationId xmlns:a16="http://schemas.microsoft.com/office/drawing/2014/main" id="{02F93B3B-B132-7E2B-1AE4-B1EE25545397}"/>
              </a:ext>
            </a:extLst>
          </p:cNvPr>
          <p:cNvGraphicFramePr>
            <a:graphicFrameLocks noGrp="1"/>
          </p:cNvGraphicFramePr>
          <p:nvPr/>
        </p:nvGraphicFramePr>
        <p:xfrm>
          <a:off x="7897497" y="3951890"/>
          <a:ext cx="3692524" cy="28117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4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4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6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964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course</a:t>
                      </a: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title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dept</a:t>
                      </a: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credits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907">
                <a:tc>
                  <a:txBody>
                    <a:bodyPr/>
                    <a:lstStyle/>
                    <a:p>
                      <a:pPr marR="26670"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Intro.</a:t>
                      </a:r>
                      <a:r>
                        <a:rPr sz="1100" spc="-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20955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Genetics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12700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399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Computational</a:t>
                      </a:r>
                      <a:r>
                        <a:rPr sz="1100" spc="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9080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Intro.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Computer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Science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81280" algn="ctr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Game</a:t>
                      </a:r>
                      <a:r>
                        <a:rPr sz="1100" spc="-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Design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9461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Robotics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9207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Image</a:t>
                      </a: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Processing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8572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Database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System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Concepts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91440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EE-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Intro.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</a:t>
                      </a:r>
                      <a:r>
                        <a:rPr sz="1100" spc="-1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Digital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Systems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Elec.</a:t>
                      </a:r>
                      <a:r>
                        <a:rPr sz="1100" spc="-3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Eng.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19685" algn="ctr">
                        <a:lnSpc>
                          <a:spcPts val="1195"/>
                        </a:lnSpc>
                      </a:pP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FIN-201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Investment</a:t>
                      </a: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Banking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33020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World</a:t>
                      </a:r>
                      <a:r>
                        <a:rPr sz="1100" spc="-3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26670" algn="ctr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Music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Video</a:t>
                      </a:r>
                      <a:r>
                        <a:rPr sz="1100" spc="-4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Production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Music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4013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spc="-7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Physical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Principles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584E08D-9DBC-5724-6362-3B839BEE593B}"/>
              </a:ext>
            </a:extLst>
          </p:cNvPr>
          <p:cNvSpPr txBox="1"/>
          <p:nvPr/>
        </p:nvSpPr>
        <p:spPr>
          <a:xfrm>
            <a:off x="7794484" y="3665534"/>
            <a:ext cx="7950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course</a:t>
            </a:r>
          </a:p>
        </p:txBody>
      </p:sp>
      <p:graphicFrame>
        <p:nvGraphicFramePr>
          <p:cNvPr id="17" name="object 12">
            <a:extLst>
              <a:ext uri="{FF2B5EF4-FFF2-40B4-BE49-F238E27FC236}">
                <a16:creationId xmlns:a16="http://schemas.microsoft.com/office/drawing/2014/main" id="{BCC97507-9A65-67C3-C09E-3B036484B3D0}"/>
              </a:ext>
            </a:extLst>
          </p:cNvPr>
          <p:cNvGraphicFramePr>
            <a:graphicFrameLocks noGrp="1"/>
          </p:cNvGraphicFramePr>
          <p:nvPr/>
        </p:nvGraphicFramePr>
        <p:xfrm>
          <a:off x="4259068" y="3951890"/>
          <a:ext cx="3084205" cy="2852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8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7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25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58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course</a:t>
                      </a:r>
                      <a:r>
                        <a:rPr sz="1200" i="1" spc="-1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sec</a:t>
                      </a: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semester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year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172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315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12121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FIN-201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15151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22222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7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32343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45565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45565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76766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Summer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76766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Summer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9878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98345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EE-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BAC09E04-9A1F-AEB4-3E3D-7FF827840EC0}"/>
              </a:ext>
            </a:extLst>
          </p:cNvPr>
          <p:cNvSpPr txBox="1"/>
          <p:nvPr/>
        </p:nvSpPr>
        <p:spPr>
          <a:xfrm>
            <a:off x="4166215" y="3665534"/>
            <a:ext cx="8937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teaches</a:t>
            </a:r>
          </a:p>
        </p:txBody>
      </p:sp>
    </p:spTree>
    <p:extLst>
      <p:ext uri="{BB962C8B-B14F-4D97-AF65-F5344CB8AC3E}">
        <p14:creationId xmlns:p14="http://schemas.microsoft.com/office/powerpoint/2010/main" val="3642157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8E66E-BAB0-50A4-2436-5F17974FA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077298-C0CE-D1E5-618C-9C64C260FAE3}"/>
              </a:ext>
            </a:extLst>
          </p:cNvPr>
          <p:cNvSpPr/>
          <p:nvPr/>
        </p:nvSpPr>
        <p:spPr>
          <a:xfrm>
            <a:off x="0" y="0"/>
            <a:ext cx="12192000" cy="843280"/>
          </a:xfrm>
          <a:prstGeom prst="rect">
            <a:avLst/>
          </a:prstGeom>
          <a:gradFill>
            <a:gsLst>
              <a:gs pos="0">
                <a:srgbClr val="008EF8"/>
              </a:gs>
              <a:gs pos="100000">
                <a:srgbClr val="5FBBF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r>
              <a:rPr lang="en-US" sz="40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Relational Algebra (intersection operation)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Content Placeholder 4">
                <a:extLst>
                  <a:ext uri="{FF2B5EF4-FFF2-40B4-BE49-F238E27FC236}">
                    <a16:creationId xmlns:a16="http://schemas.microsoft.com/office/drawing/2014/main" id="{E05B5909-2C3B-4F21-0198-1DF42E69D2A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01980" y="945574"/>
                <a:ext cx="11505140" cy="2719960"/>
              </a:xfrm>
              <a:solidFill>
                <a:srgbClr val="E7E7E7"/>
              </a:solidFill>
              <a:ln>
                <a:noFill/>
              </a:ln>
              <a:effectLst>
                <a:softEdge rad="0"/>
              </a:effectLst>
            </p:spPr>
            <p:txBody>
              <a:bodyPr lIns="182880" tIns="182880">
                <a:noAutofit/>
              </a:bodyPr>
              <a:lstStyle/>
              <a:p>
                <a:pPr marL="0" indent="0">
                  <a:buNone/>
                </a:pPr>
                <a:r>
                  <a:rPr lang="en-US" sz="2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Intersection operation: allows us to find tuples that are in both the input relations.  (</a:t>
                </a:r>
                <a:r>
                  <a:rPr lang="en-US" sz="2000" b="0" i="0" dirty="0">
                    <a:solidFill>
                      <a:srgbClr val="242021"/>
                    </a:solidFill>
                    <a:effectLst/>
                    <a:latin typeface="STIXMath-Regular"/>
                  </a:rPr>
                  <a:t>∩</a:t>
                </a:r>
                <a:r>
                  <a:rPr lang="en-US" sz="2000" dirty="0"/>
                  <a:t> )</a:t>
                </a:r>
              </a:p>
              <a:p>
                <a:r>
                  <a:rPr lang="en-US" sz="2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Courses offered in both the Fall 2017 and Spring 2018 semesters</a:t>
                </a:r>
              </a:p>
              <a:p>
                <a:pPr marL="0" indent="0">
                  <a:buNone/>
                </a:pPr>
                <a:r>
                  <a:rPr lang="en-US" sz="2000" i="1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l-GR" sz="2000" i="1" smtClean="0">
                        <a:solidFill>
                          <a:srgbClr val="24202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𝜋</m:t>
                    </m:r>
                    <m:r>
                      <a:rPr lang="el-GR" sz="2000" i="1" smtClean="0">
                        <a:solidFill>
                          <a:srgbClr val="24202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2000" b="0" i="1" baseline="-25000" dirty="0" err="1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course_id</a:t>
                </a:r>
                <a:r>
                  <a:rPr lang="en-US" sz="2000" b="0" i="1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b="0" i="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sz="2000" b="0" i="0" dirty="0" err="1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σ</a:t>
                </a:r>
                <a:r>
                  <a:rPr lang="en-US" sz="2000" b="0" i="1" baseline="-25000" dirty="0" err="1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semester</a:t>
                </a:r>
                <a:r>
                  <a:rPr lang="en-US" sz="2000" b="0" i="1" baseline="-2500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b="0" i="0" baseline="-2500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= “Fall” ∧ </a:t>
                </a:r>
                <a:r>
                  <a:rPr lang="en-US" sz="2000" b="0" i="1" baseline="-2500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year</a:t>
                </a:r>
                <a:r>
                  <a:rPr lang="en-US" sz="2000" b="0" i="0" baseline="-2500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=2017</a:t>
                </a:r>
                <a:r>
                  <a:rPr lang="en-US" sz="2000" b="0" i="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sz="2000" b="0" i="1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section</a:t>
                </a:r>
                <a:r>
                  <a:rPr lang="en-US" sz="2000" b="0" i="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))</a:t>
                </a: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∩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rgbClr val="24202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l-GR" sz="2000" i="1">
                        <a:solidFill>
                          <a:srgbClr val="24202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𝜋</m:t>
                    </m:r>
                    <m:r>
                      <a:rPr lang="el-GR" sz="2000" i="1">
                        <a:solidFill>
                          <a:srgbClr val="24202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2000" i="1" baseline="-25000" dirty="0" err="1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course_id</a:t>
                </a:r>
                <a:r>
                  <a:rPr lang="en-US" sz="2000" i="1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sz="2000" dirty="0" err="1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σ</a:t>
                </a:r>
                <a:r>
                  <a:rPr lang="en-US" sz="2000" i="1" baseline="-25000" dirty="0" err="1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semester</a:t>
                </a:r>
                <a:r>
                  <a:rPr lang="en-US" sz="2000" i="1" baseline="-25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baseline="-25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= “Spring” ∧ </a:t>
                </a:r>
                <a:r>
                  <a:rPr lang="en-US" sz="2000" i="1" baseline="-25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year</a:t>
                </a:r>
                <a:r>
                  <a:rPr lang="en-US" sz="2000" baseline="-25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=2018</a:t>
                </a:r>
                <a:r>
                  <a:rPr lang="en-US" sz="2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sz="2000" i="1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section</a:t>
                </a:r>
                <a:r>
                  <a:rPr lang="en-US" sz="2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))</a:t>
                </a: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sz="2000" dirty="0">
                  <a:solidFill>
                    <a:srgbClr val="24202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US" sz="2000" dirty="0">
                  <a:solidFill>
                    <a:srgbClr val="24202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 with the union operation, we must ensure that intersection is done between compatible relations</a:t>
                </a:r>
              </a:p>
            </p:txBody>
          </p:sp>
        </mc:Choice>
        <mc:Fallback xmlns="">
          <p:sp>
            <p:nvSpPr>
              <p:cNvPr id="117" name="Content Placeholder 4">
                <a:extLst>
                  <a:ext uri="{FF2B5EF4-FFF2-40B4-BE49-F238E27FC236}">
                    <a16:creationId xmlns:a16="http://schemas.microsoft.com/office/drawing/2014/main" id="{E05B5909-2C3B-4F21-0198-1DF42E69D2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01980" y="945574"/>
                <a:ext cx="11505140" cy="2719960"/>
              </a:xfr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softEdge rad="0"/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BD3D833-0491-63A3-4EFF-F6AB127330C6}"/>
              </a:ext>
            </a:extLst>
          </p:cNvPr>
          <p:cNvSpPr txBox="1"/>
          <p:nvPr/>
        </p:nvSpPr>
        <p:spPr>
          <a:xfrm>
            <a:off x="601979" y="3665534"/>
            <a:ext cx="10512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instructor</a:t>
            </a:r>
          </a:p>
        </p:txBody>
      </p:sp>
      <p:graphicFrame>
        <p:nvGraphicFramePr>
          <p:cNvPr id="13" name="object 10">
            <a:extLst>
              <a:ext uri="{FF2B5EF4-FFF2-40B4-BE49-F238E27FC236}">
                <a16:creationId xmlns:a16="http://schemas.microsoft.com/office/drawing/2014/main" id="{F09812C3-F6C8-36E5-B572-C59A8EE04F7A}"/>
              </a:ext>
            </a:extLst>
          </p:cNvPr>
          <p:cNvGraphicFramePr>
            <a:graphicFrameLocks noGrp="1"/>
          </p:cNvGraphicFramePr>
          <p:nvPr/>
        </p:nvGraphicFramePr>
        <p:xfrm>
          <a:off x="704992" y="3951890"/>
          <a:ext cx="2999852" cy="27953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8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1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6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65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dept</a:t>
                      </a:r>
                      <a:r>
                        <a:rPr sz="1200" i="1" spc="-4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salary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069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Srinivasan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2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65000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12121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Wu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90000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15151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Mozart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Music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22222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Einstein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Physics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95000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32343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</a:t>
                      </a: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60000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32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33456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Physics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87000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32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45565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Katz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2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75000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58583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Califieri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62000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76543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Singh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76766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Crick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72000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Brandt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2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92000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089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98345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Kim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Elec.</a:t>
                      </a: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Eng.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5" name="object 5">
            <a:extLst>
              <a:ext uri="{FF2B5EF4-FFF2-40B4-BE49-F238E27FC236}">
                <a16:creationId xmlns:a16="http://schemas.microsoft.com/office/drawing/2014/main" id="{C6B09B98-5E8B-88EC-EF8F-B58B690B3C7B}"/>
              </a:ext>
            </a:extLst>
          </p:cNvPr>
          <p:cNvGraphicFramePr>
            <a:graphicFrameLocks noGrp="1"/>
          </p:cNvGraphicFramePr>
          <p:nvPr/>
        </p:nvGraphicFramePr>
        <p:xfrm>
          <a:off x="7897497" y="3951890"/>
          <a:ext cx="3692524" cy="28117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4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4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6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964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course</a:t>
                      </a: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title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dept</a:t>
                      </a: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credits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907">
                <a:tc>
                  <a:txBody>
                    <a:bodyPr/>
                    <a:lstStyle/>
                    <a:p>
                      <a:pPr marR="26670"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Intro.</a:t>
                      </a:r>
                      <a:r>
                        <a:rPr sz="1100" spc="-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20955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Genetics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12700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399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Computational</a:t>
                      </a:r>
                      <a:r>
                        <a:rPr sz="1100" spc="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9080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Intro.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Computer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Science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81280" algn="ctr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Game</a:t>
                      </a:r>
                      <a:r>
                        <a:rPr sz="1100" spc="-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Design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9461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Robotics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9207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Image</a:t>
                      </a: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Processing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8572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Database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System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Concepts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91440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EE-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Intro.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</a:t>
                      </a:r>
                      <a:r>
                        <a:rPr sz="1100" spc="-1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Digital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Systems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Elec.</a:t>
                      </a:r>
                      <a:r>
                        <a:rPr sz="1100" spc="-3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Eng.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19685" algn="ctr">
                        <a:lnSpc>
                          <a:spcPts val="1195"/>
                        </a:lnSpc>
                      </a:pP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FIN-201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Investment</a:t>
                      </a: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Banking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33020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World</a:t>
                      </a:r>
                      <a:r>
                        <a:rPr sz="1100" spc="-3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26670" algn="ctr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Music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Video</a:t>
                      </a:r>
                      <a:r>
                        <a:rPr sz="1100" spc="-4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Production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Music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4013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spc="-7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Physical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Principles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917F41F4-4A82-B9B2-44F0-6AD13B795289}"/>
              </a:ext>
            </a:extLst>
          </p:cNvPr>
          <p:cNvSpPr txBox="1"/>
          <p:nvPr/>
        </p:nvSpPr>
        <p:spPr>
          <a:xfrm>
            <a:off x="7794484" y="3665534"/>
            <a:ext cx="7950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course</a:t>
            </a:r>
          </a:p>
        </p:txBody>
      </p:sp>
      <p:graphicFrame>
        <p:nvGraphicFramePr>
          <p:cNvPr id="17" name="object 12">
            <a:extLst>
              <a:ext uri="{FF2B5EF4-FFF2-40B4-BE49-F238E27FC236}">
                <a16:creationId xmlns:a16="http://schemas.microsoft.com/office/drawing/2014/main" id="{B31696BD-BC0C-72A1-7E92-CFFE19D3B6B1}"/>
              </a:ext>
            </a:extLst>
          </p:cNvPr>
          <p:cNvGraphicFramePr>
            <a:graphicFrameLocks noGrp="1"/>
          </p:cNvGraphicFramePr>
          <p:nvPr/>
        </p:nvGraphicFramePr>
        <p:xfrm>
          <a:off x="4259068" y="3951890"/>
          <a:ext cx="3084205" cy="2852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8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7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25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58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course</a:t>
                      </a:r>
                      <a:r>
                        <a:rPr sz="1200" i="1" spc="-1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sec</a:t>
                      </a: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semester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year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172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315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12121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FIN-201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15151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22222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7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32343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45565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45565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76766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Summer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76766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Summer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9878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98345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EE-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0ED1777-4AFB-16BA-8DFC-0A39238A8AA1}"/>
              </a:ext>
            </a:extLst>
          </p:cNvPr>
          <p:cNvSpPr txBox="1"/>
          <p:nvPr/>
        </p:nvSpPr>
        <p:spPr>
          <a:xfrm>
            <a:off x="4166215" y="3665534"/>
            <a:ext cx="8937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teaches</a:t>
            </a:r>
          </a:p>
        </p:txBody>
      </p:sp>
    </p:spTree>
    <p:extLst>
      <p:ext uri="{BB962C8B-B14F-4D97-AF65-F5344CB8AC3E}">
        <p14:creationId xmlns:p14="http://schemas.microsoft.com/office/powerpoint/2010/main" val="2489745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20E3B-90E7-2A6A-D597-5F9981C2D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31F3BCC-2DC4-3972-1141-D87B77FB9684}"/>
              </a:ext>
            </a:extLst>
          </p:cNvPr>
          <p:cNvSpPr/>
          <p:nvPr/>
        </p:nvSpPr>
        <p:spPr>
          <a:xfrm>
            <a:off x="0" y="0"/>
            <a:ext cx="12192000" cy="843280"/>
          </a:xfrm>
          <a:prstGeom prst="rect">
            <a:avLst/>
          </a:prstGeom>
          <a:gradFill>
            <a:gsLst>
              <a:gs pos="0">
                <a:srgbClr val="008EF8"/>
              </a:gs>
              <a:gs pos="100000">
                <a:srgbClr val="5FBBF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r>
              <a:rPr lang="en-US" sz="40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Relational Algebra (Difference)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Content Placeholder 4">
                <a:extLst>
                  <a:ext uri="{FF2B5EF4-FFF2-40B4-BE49-F238E27FC236}">
                    <a16:creationId xmlns:a16="http://schemas.microsoft.com/office/drawing/2014/main" id="{993B0DEE-0527-EB53-D952-215FC4B6497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01980" y="945574"/>
                <a:ext cx="11505140" cy="2719960"/>
              </a:xfrm>
              <a:solidFill>
                <a:srgbClr val="E7E7E7"/>
              </a:solidFill>
              <a:ln>
                <a:noFill/>
              </a:ln>
              <a:effectLst>
                <a:softEdge rad="0"/>
              </a:effectLst>
            </p:spPr>
            <p:txBody>
              <a:bodyPr lIns="182880" tIns="182880">
                <a:noAutofit/>
              </a:bodyPr>
              <a:lstStyle/>
              <a:p>
                <a:pPr marL="0" indent="0">
                  <a:buNone/>
                </a:pPr>
                <a:r>
                  <a:rPr lang="en-US" sz="2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Difference operation: allows us to find tuples that are in one relation but are not in another.  ( </a:t>
                </a:r>
                <a:r>
                  <a:rPr lang="en-US" sz="2000" dirty="0"/>
                  <a:t>- )</a:t>
                </a:r>
              </a:p>
              <a:p>
                <a:r>
                  <a:rPr lang="en-US" sz="2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find all the courses taught in the Fall 2017 semester but not in Spring 2018 semester </a:t>
                </a:r>
                <a:r>
                  <a:rPr lang="en-US" sz="2000" i="1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</a:p>
              <a:p>
                <a:pPr marL="0" indent="0">
                  <a:buNone/>
                </a:pPr>
                <a:r>
                  <a:rPr lang="en-US" sz="2000" i="1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l-GR" sz="2000" i="1" smtClean="0">
                        <a:solidFill>
                          <a:srgbClr val="24202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𝜋</m:t>
                    </m:r>
                    <m:r>
                      <a:rPr lang="el-GR" sz="2000" i="1" smtClean="0">
                        <a:solidFill>
                          <a:srgbClr val="24202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2000" b="0" i="1" baseline="-25000" dirty="0" err="1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course_id</a:t>
                </a:r>
                <a:r>
                  <a:rPr lang="en-US" sz="2000" b="0" i="1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b="0" i="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sz="2000" b="0" i="0" dirty="0" err="1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σ</a:t>
                </a:r>
                <a:r>
                  <a:rPr lang="en-US" sz="2000" b="0" i="1" baseline="-25000" dirty="0" err="1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semester</a:t>
                </a:r>
                <a:r>
                  <a:rPr lang="en-US" sz="2000" b="0" i="1" baseline="-2500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b="0" i="0" baseline="-2500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= “Fall” ∧ </a:t>
                </a:r>
                <a:r>
                  <a:rPr lang="en-US" sz="2000" b="0" i="1" baseline="-2500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year</a:t>
                </a:r>
                <a:r>
                  <a:rPr lang="en-US" sz="2000" b="0" i="0" baseline="-2500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=2017</a:t>
                </a:r>
                <a:r>
                  <a:rPr lang="en-US" sz="2000" b="0" i="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sz="2000" b="0" i="1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section</a:t>
                </a:r>
                <a:r>
                  <a:rPr lang="en-US" sz="2000" b="0" i="0" dirty="0">
                    <a:solidFill>
                      <a:srgbClr val="24202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))</a:t>
                </a: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/>
                  <a:t>-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rgbClr val="24202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l-GR" sz="2000" i="1">
                        <a:solidFill>
                          <a:srgbClr val="24202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𝜋</m:t>
                    </m:r>
                    <m:r>
                      <a:rPr lang="el-GR" sz="2000" i="1">
                        <a:solidFill>
                          <a:srgbClr val="24202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2000" i="1" baseline="-25000" dirty="0" err="1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course_id</a:t>
                </a:r>
                <a:r>
                  <a:rPr lang="en-US" sz="2000" i="1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sz="2000" dirty="0" err="1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σ</a:t>
                </a:r>
                <a:r>
                  <a:rPr lang="en-US" sz="2000" i="1" baseline="-25000" dirty="0" err="1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semester</a:t>
                </a:r>
                <a:r>
                  <a:rPr lang="en-US" sz="2000" i="1" baseline="-25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baseline="-25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= “Spring” ∧ </a:t>
                </a:r>
                <a:r>
                  <a:rPr lang="en-US" sz="2000" i="1" baseline="-25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year</a:t>
                </a:r>
                <a:r>
                  <a:rPr lang="en-US" sz="2000" baseline="-25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=2018</a:t>
                </a:r>
                <a:r>
                  <a:rPr lang="en-US" sz="2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sz="2000" i="1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section</a:t>
                </a:r>
                <a:r>
                  <a:rPr lang="en-US" sz="2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))</a:t>
                </a: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sz="2000" dirty="0">
                  <a:solidFill>
                    <a:srgbClr val="24202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US" sz="2000" dirty="0">
                  <a:solidFill>
                    <a:srgbClr val="24202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 with the union operation, we must ensure that difference is done between compatible relations</a:t>
                </a:r>
              </a:p>
            </p:txBody>
          </p:sp>
        </mc:Choice>
        <mc:Fallback xmlns="">
          <p:sp>
            <p:nvSpPr>
              <p:cNvPr id="117" name="Content Placeholder 4">
                <a:extLst>
                  <a:ext uri="{FF2B5EF4-FFF2-40B4-BE49-F238E27FC236}">
                    <a16:creationId xmlns:a16="http://schemas.microsoft.com/office/drawing/2014/main" id="{993B0DEE-0527-EB53-D952-215FC4B649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01980" y="945574"/>
                <a:ext cx="11505140" cy="2719960"/>
              </a:xfrm>
              <a:blipFill>
                <a:blip r:embed="rId3"/>
                <a:stretch>
                  <a:fillRect b="-448"/>
                </a:stretch>
              </a:blipFill>
              <a:ln>
                <a:noFill/>
              </a:ln>
              <a:effectLst>
                <a:softEdge rad="0"/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E4BCFB2-1CFE-C555-0903-568BB2016188}"/>
              </a:ext>
            </a:extLst>
          </p:cNvPr>
          <p:cNvSpPr txBox="1"/>
          <p:nvPr/>
        </p:nvSpPr>
        <p:spPr>
          <a:xfrm>
            <a:off x="601979" y="3665534"/>
            <a:ext cx="10512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instructor</a:t>
            </a:r>
          </a:p>
        </p:txBody>
      </p:sp>
      <p:graphicFrame>
        <p:nvGraphicFramePr>
          <p:cNvPr id="13" name="object 10">
            <a:extLst>
              <a:ext uri="{FF2B5EF4-FFF2-40B4-BE49-F238E27FC236}">
                <a16:creationId xmlns:a16="http://schemas.microsoft.com/office/drawing/2014/main" id="{5DB987AA-5957-94B9-CE0C-C043A4DCE5EE}"/>
              </a:ext>
            </a:extLst>
          </p:cNvPr>
          <p:cNvGraphicFramePr>
            <a:graphicFrameLocks noGrp="1"/>
          </p:cNvGraphicFramePr>
          <p:nvPr/>
        </p:nvGraphicFramePr>
        <p:xfrm>
          <a:off x="704992" y="3951890"/>
          <a:ext cx="2999852" cy="27953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8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1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6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65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dept</a:t>
                      </a:r>
                      <a:r>
                        <a:rPr sz="1200" i="1" spc="-4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salary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069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Srinivasan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2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65000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12121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Wu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90000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15151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Mozart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Music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22222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Einstein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Physics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95000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32343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</a:t>
                      </a: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60000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32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33456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Physics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87000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32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45565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Katz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2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75000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58583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Califieri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62000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76543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Singh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76766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Crick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72000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Brandt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2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92000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089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98345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Kim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Elec.</a:t>
                      </a: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Eng.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5" name="object 5">
            <a:extLst>
              <a:ext uri="{FF2B5EF4-FFF2-40B4-BE49-F238E27FC236}">
                <a16:creationId xmlns:a16="http://schemas.microsoft.com/office/drawing/2014/main" id="{9527EE17-E864-272F-F94A-9BF6833651E4}"/>
              </a:ext>
            </a:extLst>
          </p:cNvPr>
          <p:cNvGraphicFramePr>
            <a:graphicFrameLocks noGrp="1"/>
          </p:cNvGraphicFramePr>
          <p:nvPr/>
        </p:nvGraphicFramePr>
        <p:xfrm>
          <a:off x="7897497" y="3951890"/>
          <a:ext cx="3692524" cy="28117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4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4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6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964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course</a:t>
                      </a: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title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dept</a:t>
                      </a: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credits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907">
                <a:tc>
                  <a:txBody>
                    <a:bodyPr/>
                    <a:lstStyle/>
                    <a:p>
                      <a:pPr marR="26670"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Intro.</a:t>
                      </a:r>
                      <a:r>
                        <a:rPr sz="1100" spc="-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20955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Genetics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12700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399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Computational</a:t>
                      </a:r>
                      <a:r>
                        <a:rPr sz="1100" spc="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9080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Intro.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Computer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Science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81280" algn="ctr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Game</a:t>
                      </a:r>
                      <a:r>
                        <a:rPr sz="1100" spc="-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Design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9461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Robotics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9207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Image</a:t>
                      </a: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Processing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8572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Database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System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Concepts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91440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EE-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Intro.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</a:t>
                      </a:r>
                      <a:r>
                        <a:rPr sz="1100" spc="-1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Digital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Systems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Elec.</a:t>
                      </a:r>
                      <a:r>
                        <a:rPr sz="1100" spc="-3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Eng.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19685" algn="ctr">
                        <a:lnSpc>
                          <a:spcPts val="1195"/>
                        </a:lnSpc>
                      </a:pP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FIN-201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Investment</a:t>
                      </a: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Banking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33020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World</a:t>
                      </a:r>
                      <a:r>
                        <a:rPr sz="1100" spc="-3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26670" algn="ctr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Music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Video</a:t>
                      </a:r>
                      <a:r>
                        <a:rPr sz="1100" spc="-4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Production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Music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4013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spc="-7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Physical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Principles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903931AF-9962-F28E-8A23-C5B6D095E7EA}"/>
              </a:ext>
            </a:extLst>
          </p:cNvPr>
          <p:cNvSpPr txBox="1"/>
          <p:nvPr/>
        </p:nvSpPr>
        <p:spPr>
          <a:xfrm>
            <a:off x="7794484" y="3665534"/>
            <a:ext cx="7950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course</a:t>
            </a:r>
          </a:p>
        </p:txBody>
      </p:sp>
      <p:graphicFrame>
        <p:nvGraphicFramePr>
          <p:cNvPr id="17" name="object 12">
            <a:extLst>
              <a:ext uri="{FF2B5EF4-FFF2-40B4-BE49-F238E27FC236}">
                <a16:creationId xmlns:a16="http://schemas.microsoft.com/office/drawing/2014/main" id="{655AA490-A46D-42E8-F5E6-06AD4C4DAB44}"/>
              </a:ext>
            </a:extLst>
          </p:cNvPr>
          <p:cNvGraphicFramePr>
            <a:graphicFrameLocks noGrp="1"/>
          </p:cNvGraphicFramePr>
          <p:nvPr/>
        </p:nvGraphicFramePr>
        <p:xfrm>
          <a:off x="4259068" y="3951890"/>
          <a:ext cx="3084205" cy="2852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8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7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25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58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course</a:t>
                      </a:r>
                      <a:r>
                        <a:rPr sz="1200" i="1" spc="-1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sec</a:t>
                      </a: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semester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year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172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315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12121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FIN-201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15151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22222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7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32343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45565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45565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76766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Summer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76766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Summer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9878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98345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EE-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CD41BD81-4D06-0C98-B8E9-5293E298C8CD}"/>
              </a:ext>
            </a:extLst>
          </p:cNvPr>
          <p:cNvSpPr txBox="1"/>
          <p:nvPr/>
        </p:nvSpPr>
        <p:spPr>
          <a:xfrm>
            <a:off x="4166215" y="3665534"/>
            <a:ext cx="8937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teaches</a:t>
            </a:r>
          </a:p>
        </p:txBody>
      </p:sp>
    </p:spTree>
    <p:extLst>
      <p:ext uri="{BB962C8B-B14F-4D97-AF65-F5344CB8AC3E}">
        <p14:creationId xmlns:p14="http://schemas.microsoft.com/office/powerpoint/2010/main" val="101076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B0999-6E04-B583-71E4-785549D2F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DEF536-0BC1-81EF-5BB7-40F3FB4E32F7}"/>
              </a:ext>
            </a:extLst>
          </p:cNvPr>
          <p:cNvSpPr/>
          <p:nvPr/>
        </p:nvSpPr>
        <p:spPr>
          <a:xfrm>
            <a:off x="0" y="0"/>
            <a:ext cx="12192000" cy="843280"/>
          </a:xfrm>
          <a:prstGeom prst="rect">
            <a:avLst/>
          </a:prstGeom>
          <a:gradFill>
            <a:gsLst>
              <a:gs pos="0">
                <a:srgbClr val="008EF8"/>
              </a:gs>
              <a:gs pos="100000">
                <a:srgbClr val="5FBBF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r>
              <a:rPr lang="en-US" sz="40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Rename operation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Content Placeholder 4">
                <a:extLst>
                  <a:ext uri="{FF2B5EF4-FFF2-40B4-BE49-F238E27FC236}">
                    <a16:creationId xmlns:a16="http://schemas.microsoft.com/office/drawing/2014/main" id="{00920B30-1D88-3DCC-2B21-B24AFDD36F9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01980" y="945574"/>
                <a:ext cx="11505140" cy="2719960"/>
              </a:xfrm>
              <a:solidFill>
                <a:srgbClr val="E7E7E7"/>
              </a:solidFill>
              <a:ln>
                <a:noFill/>
              </a:ln>
              <a:effectLst>
                <a:softEdge rad="0"/>
              </a:effectLst>
            </p:spPr>
            <p:txBody>
              <a:bodyPr lIns="182880" tIns="182880">
                <a:noAutofit/>
              </a:bodyPr>
              <a:lstStyle/>
              <a:p>
                <a:pPr marL="0" indent="0">
                  <a:buNone/>
                </a:pPr>
                <a:r>
                  <a:rPr lang="en-US" sz="2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Difference operation: allows us to find tuples that are in one relation but are not in </a:t>
                </a:r>
                <a:r>
                  <a:rPr lang="en-US" sz="200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another.</a:t>
                </a:r>
                <a:endParaRPr lang="en-US" sz="2000" dirty="0"/>
              </a:p>
              <a:p>
                <a:r>
                  <a:rPr lang="pt-BR" sz="2000" dirty="0"/>
                  <a:t>To rename table E and its attribute: ρ</a:t>
                </a:r>
                <a:r>
                  <a:rPr lang="pt-BR" sz="2000" baseline="-25000" dirty="0"/>
                  <a:t>x(A1,A2,…,An) </a:t>
                </a:r>
                <a:r>
                  <a:rPr lang="pt-BR" sz="2000" dirty="0"/>
                  <a:t>(E) or ρ</a:t>
                </a:r>
                <a:r>
                  <a:rPr lang="pt-BR" sz="2000" baseline="-25000" dirty="0"/>
                  <a:t>x </a:t>
                </a:r>
                <a:r>
                  <a:rPr lang="pt-BR" sz="2000" dirty="0"/>
                  <a:t>(E)  or ρ</a:t>
                </a:r>
                <a:r>
                  <a:rPr lang="pt-BR" sz="2000" baseline="-25000" dirty="0"/>
                  <a:t>A1,A2,…,An </a:t>
                </a:r>
                <a:r>
                  <a:rPr lang="pt-BR" sz="2000" dirty="0"/>
                  <a:t>(E) </a:t>
                </a:r>
              </a:p>
              <a:p>
                <a:r>
                  <a:rPr lang="en-US" sz="2000" dirty="0"/>
                  <a:t>Benefits: 1. solves problems of set operations.    2. allows you to make complex queries.</a:t>
                </a:r>
              </a:p>
              <a:p>
                <a:r>
                  <a:rPr lang="en-US" sz="2000" dirty="0">
                    <a:solidFill>
                      <a:srgbClr val="24202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Find the ID and name of those instructors who earn more than the instructor whose ID is 12121</a:t>
                </a:r>
                <a:endParaRPr lang="en-US" sz="2000" i="1" dirty="0">
                  <a:solidFill>
                    <a:srgbClr val="24202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:r>
                  <a:rPr lang="el-GR" sz="2000" dirty="0">
                    <a:solidFill>
                      <a:srgbClr val="242021"/>
                    </a:solidFill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2000" i="1">
                        <a:solidFill>
                          <a:srgbClr val="24202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𝜋</m:t>
                    </m:r>
                  </m:oMath>
                </a14:m>
                <a:r>
                  <a:rPr lang="en-US" sz="2000" baseline="-25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i.ID,i.name</a:t>
                </a: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((</a:t>
                </a:r>
                <a:r>
                  <a:rPr lang="el-GR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σ</a:t>
                </a:r>
                <a:r>
                  <a:rPr lang="en-US" sz="2000" baseline="-25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i.salary</a:t>
                </a:r>
                <a:r>
                  <a:rPr lang="en-US" sz="2000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&gt; </a:t>
                </a:r>
                <a:r>
                  <a:rPr lang="en-US" sz="2000" baseline="-25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w.salary</a:t>
                </a: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l-GR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ρ</a:t>
                </a:r>
                <a:r>
                  <a:rPr lang="en-US" sz="2000" baseline="-250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(instructor) × </a:t>
                </a:r>
                <a:r>
                  <a:rPr lang="el-GR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σ</a:t>
                </a:r>
                <a:r>
                  <a:rPr lang="en-US" sz="2000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w.id=12121</a:t>
                </a: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l-GR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ρ</a:t>
                </a:r>
                <a:r>
                  <a:rPr lang="en-US" sz="2000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</a:t>
                </a: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(instructor)))))</a:t>
                </a:r>
              </a:p>
              <a:p>
                <a:pPr marL="0" indent="0">
                  <a:buNone/>
                </a:pP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US" sz="2000" dirty="0">
                  <a:solidFill>
                    <a:srgbClr val="24202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7" name="Content Placeholder 4">
                <a:extLst>
                  <a:ext uri="{FF2B5EF4-FFF2-40B4-BE49-F238E27FC236}">
                    <a16:creationId xmlns:a16="http://schemas.microsoft.com/office/drawing/2014/main" id="{00920B30-1D88-3DCC-2B21-B24AFDD36F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01980" y="945574"/>
                <a:ext cx="11505140" cy="2719960"/>
              </a:xfr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softEdge rad="0"/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A958CCE-C0D6-6D71-BCA5-7FE5C0566CC6}"/>
              </a:ext>
            </a:extLst>
          </p:cNvPr>
          <p:cNvSpPr txBox="1"/>
          <p:nvPr/>
        </p:nvSpPr>
        <p:spPr>
          <a:xfrm>
            <a:off x="601979" y="3665534"/>
            <a:ext cx="10512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instructor</a:t>
            </a:r>
          </a:p>
        </p:txBody>
      </p:sp>
      <p:graphicFrame>
        <p:nvGraphicFramePr>
          <p:cNvPr id="13" name="object 10">
            <a:extLst>
              <a:ext uri="{FF2B5EF4-FFF2-40B4-BE49-F238E27FC236}">
                <a16:creationId xmlns:a16="http://schemas.microsoft.com/office/drawing/2014/main" id="{665E362F-9EFF-84FE-688D-DC52205D487F}"/>
              </a:ext>
            </a:extLst>
          </p:cNvPr>
          <p:cNvGraphicFramePr>
            <a:graphicFrameLocks noGrp="1"/>
          </p:cNvGraphicFramePr>
          <p:nvPr/>
        </p:nvGraphicFramePr>
        <p:xfrm>
          <a:off x="704992" y="3951890"/>
          <a:ext cx="2999852" cy="27953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8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1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6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65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dept</a:t>
                      </a:r>
                      <a:r>
                        <a:rPr sz="1200" i="1" spc="-4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salary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069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Srinivasan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2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65000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12121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Wu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90000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15151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Mozart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Music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22222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Einstein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Physics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95000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32343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</a:t>
                      </a: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60000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32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33456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Physics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87000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32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45565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Katz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2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75000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58583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Califieri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62000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76543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Singh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76766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Crick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72000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411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Brandt</a:t>
                      </a:r>
                      <a:endPara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2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92000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089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98345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Kim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Elec.</a:t>
                      </a:r>
                      <a:r>
                        <a:rPr sz="12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Eng.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2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80000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5" name="object 5">
            <a:extLst>
              <a:ext uri="{FF2B5EF4-FFF2-40B4-BE49-F238E27FC236}">
                <a16:creationId xmlns:a16="http://schemas.microsoft.com/office/drawing/2014/main" id="{6136E25D-3522-AA98-9777-D62512B24A62}"/>
              </a:ext>
            </a:extLst>
          </p:cNvPr>
          <p:cNvGraphicFramePr>
            <a:graphicFrameLocks noGrp="1"/>
          </p:cNvGraphicFramePr>
          <p:nvPr/>
        </p:nvGraphicFramePr>
        <p:xfrm>
          <a:off x="7897497" y="3951890"/>
          <a:ext cx="3692524" cy="28117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4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4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6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964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course</a:t>
                      </a: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title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dept</a:t>
                      </a: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credits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3175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907">
                <a:tc>
                  <a:txBody>
                    <a:bodyPr/>
                    <a:lstStyle/>
                    <a:p>
                      <a:pPr marR="26670"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Intro.</a:t>
                      </a:r>
                      <a:r>
                        <a:rPr sz="1100" spc="-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20955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Genetics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12700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399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Computational</a:t>
                      </a:r>
                      <a:r>
                        <a:rPr sz="1100" spc="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9080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Intro.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Computer</a:t>
                      </a:r>
                      <a:r>
                        <a:rPr sz="1100" spc="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Science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81280" algn="ctr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Game</a:t>
                      </a:r>
                      <a:r>
                        <a:rPr sz="1100" spc="-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Design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9461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Robotics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9207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Image</a:t>
                      </a: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Processing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85725" algn="ctr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Database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System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Concepts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Comp.</a:t>
                      </a:r>
                      <a:r>
                        <a:rPr sz="1100" spc="-5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Sci.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91440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EE-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Intro.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</a:t>
                      </a:r>
                      <a:r>
                        <a:rPr sz="1100" spc="-1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Digital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Systems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Elec.</a:t>
                      </a:r>
                      <a:r>
                        <a:rPr sz="1100" spc="-3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Eng.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9335">
                <a:tc>
                  <a:txBody>
                    <a:bodyPr/>
                    <a:lstStyle/>
                    <a:p>
                      <a:pPr marR="19685" algn="ctr">
                        <a:lnSpc>
                          <a:spcPts val="1195"/>
                        </a:lnSpc>
                      </a:pP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FIN-201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Investment</a:t>
                      </a: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Banking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33020" algn="ctr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World</a:t>
                      </a:r>
                      <a:r>
                        <a:rPr sz="1100" spc="-3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History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069">
                <a:tc>
                  <a:txBody>
                    <a:bodyPr/>
                    <a:lstStyle/>
                    <a:p>
                      <a:pPr marR="26670" algn="ctr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Music</a:t>
                      </a:r>
                      <a:r>
                        <a:rPr sz="1100" spc="-3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Video</a:t>
                      </a:r>
                      <a:r>
                        <a:rPr sz="1100" spc="-4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Production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Music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4013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spc="-7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Physical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Principles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Physics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7422B87-AA7E-2A7F-3AA0-4157A70B9931}"/>
              </a:ext>
            </a:extLst>
          </p:cNvPr>
          <p:cNvSpPr txBox="1"/>
          <p:nvPr/>
        </p:nvSpPr>
        <p:spPr>
          <a:xfrm>
            <a:off x="7794484" y="3665534"/>
            <a:ext cx="7950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course</a:t>
            </a:r>
          </a:p>
        </p:txBody>
      </p:sp>
      <p:graphicFrame>
        <p:nvGraphicFramePr>
          <p:cNvPr id="17" name="object 12">
            <a:extLst>
              <a:ext uri="{FF2B5EF4-FFF2-40B4-BE49-F238E27FC236}">
                <a16:creationId xmlns:a16="http://schemas.microsoft.com/office/drawing/2014/main" id="{C5EF1925-80A9-161B-CB0D-7A05714B0B9C}"/>
              </a:ext>
            </a:extLst>
          </p:cNvPr>
          <p:cNvGraphicFramePr>
            <a:graphicFrameLocks noGrp="1"/>
          </p:cNvGraphicFramePr>
          <p:nvPr/>
        </p:nvGraphicFramePr>
        <p:xfrm>
          <a:off x="4259068" y="3951890"/>
          <a:ext cx="3084205" cy="2852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8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7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25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58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course</a:t>
                      </a:r>
                      <a:r>
                        <a:rPr sz="1200" i="1" spc="-1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sec</a:t>
                      </a: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sz="1200" i="1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semester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i="1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year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75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172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5"/>
                        </a:spcBef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31115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315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12121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FIN-201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15151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22222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7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Fall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32343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45565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45565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76766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Summer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76766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Summer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693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6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190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7585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83821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5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319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119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2018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9878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98345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4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EE-</a:t>
                      </a:r>
                      <a:r>
                        <a:rPr sz="1100" spc="-25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100" spc="-1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Spring</a:t>
                      </a:r>
                      <a:endParaRPr sz="11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100" spc="-20" dirty="0">
                          <a:solidFill>
                            <a:srgbClr val="231F2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2017</a:t>
                      </a:r>
                      <a:endParaRPr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3004536E-21FC-522E-40CF-D7F7F5B9E07B}"/>
              </a:ext>
            </a:extLst>
          </p:cNvPr>
          <p:cNvSpPr txBox="1"/>
          <p:nvPr/>
        </p:nvSpPr>
        <p:spPr>
          <a:xfrm>
            <a:off x="4166215" y="3665534"/>
            <a:ext cx="8937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teaches</a:t>
            </a:r>
          </a:p>
        </p:txBody>
      </p:sp>
    </p:spTree>
    <p:extLst>
      <p:ext uri="{BB962C8B-B14F-4D97-AF65-F5344CB8AC3E}">
        <p14:creationId xmlns:p14="http://schemas.microsoft.com/office/powerpoint/2010/main" val="3141498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385E356-1F37-43D7-AF19-FD9009245A5C}">
  <we:reference id="wa104381909" version="3.12.0.0" store="en-US" storeType="OMEX"/>
  <we:alternateReferences>
    <we:reference id="wa104381909" version="3.12.0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8091</TotalTime>
  <Words>4929</Words>
  <Application>Microsoft Office PowerPoint</Application>
  <PresentationFormat>Widescreen</PresentationFormat>
  <Paragraphs>2563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Cambria Math</vt:lpstr>
      <vt:lpstr>Lucida Sans</vt:lpstr>
      <vt:lpstr>NimbusRomDOT-Reg</vt:lpstr>
      <vt:lpstr>NimbusRomDOT-RegIta</vt:lpstr>
      <vt:lpstr>STIXMathCalligraphy-Regular</vt:lpstr>
      <vt:lpstr>STIXMath-Italic</vt:lpstr>
      <vt:lpstr>STIXMath-Regular</vt:lpstr>
      <vt:lpstr>Times New Roman</vt:lpstr>
      <vt:lpstr>Office Theme</vt:lpstr>
      <vt:lpstr>Section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AbdElrahman Ahmed Rabea</dc:creator>
  <cp:lastModifiedBy>AbdElrahman Ahmed Rabea</cp:lastModifiedBy>
  <cp:revision>122</cp:revision>
  <dcterms:created xsi:type="dcterms:W3CDTF">2024-10-08T16:38:53Z</dcterms:created>
  <dcterms:modified xsi:type="dcterms:W3CDTF">2025-03-08T09:11:05Z</dcterms:modified>
</cp:coreProperties>
</file>