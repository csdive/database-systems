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8" r:id="rId2"/>
    <p:sldId id="365" r:id="rId3"/>
    <p:sldId id="410" r:id="rId4"/>
    <p:sldId id="393" r:id="rId5"/>
    <p:sldId id="411" r:id="rId6"/>
    <p:sldId id="412" r:id="rId7"/>
    <p:sldId id="413" r:id="rId8"/>
    <p:sldId id="415" r:id="rId9"/>
    <p:sldId id="416" r:id="rId10"/>
    <p:sldId id="417" r:id="rId11"/>
    <p:sldId id="395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801761A8-6017-4C05-A3E2-BE01D5233BCB}">
          <p14:sldIdLst>
            <p14:sldId id="258"/>
            <p14:sldId id="365"/>
            <p14:sldId id="410"/>
            <p14:sldId id="393"/>
            <p14:sldId id="411"/>
            <p14:sldId id="412"/>
            <p14:sldId id="413"/>
            <p14:sldId id="415"/>
            <p14:sldId id="416"/>
            <p14:sldId id="417"/>
            <p14:sldId id="39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424" userDrawn="1">
          <p15:clr>
            <a:srgbClr val="A4A3A4"/>
          </p15:clr>
        </p15:guide>
        <p15:guide id="2" pos="3984" userDrawn="1">
          <p15:clr>
            <a:srgbClr val="A4A3A4"/>
          </p15:clr>
        </p15:guide>
        <p15:guide id="3" pos="583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5FEE694A-C7CA-9CA0-6B18-B493EEAD6E6F}" name="AbdElrahman Ahmed Rabea" initials="ع" userId="S::AbdoRabei@std.mans.edu.eg::07f03c0e-7771-45d6-9a1e-c1156021a6be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4F2FC"/>
    <a:srgbClr val="CBEEFB"/>
    <a:srgbClr val="000000"/>
    <a:srgbClr val="0071C5"/>
    <a:srgbClr val="008EF8"/>
    <a:srgbClr val="5FBBFF"/>
    <a:srgbClr val="E7E7E7"/>
    <a:srgbClr val="333333"/>
    <a:srgbClr val="F0F0F0"/>
    <a:srgbClr val="2CA5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563" autoAdjust="0"/>
    <p:restoredTop sz="94510" autoAdjust="0"/>
  </p:normalViewPr>
  <p:slideViewPr>
    <p:cSldViewPr snapToGrid="0">
      <p:cViewPr varScale="1">
        <p:scale>
          <a:sx n="60" d="100"/>
          <a:sy n="60" d="100"/>
        </p:scale>
        <p:origin x="168" y="38"/>
      </p:cViewPr>
      <p:guideLst>
        <p:guide orient="horz" pos="2424"/>
        <p:guide pos="3984"/>
        <p:guide pos="5832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0" d="100"/>
          <a:sy n="60" d="100"/>
        </p:scale>
        <p:origin x="2333" y="4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8/10/relationships/authors" Target="author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9E43220-F0E2-84AD-4C61-95CB6436EED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097380-C72F-E14D-D537-D4C84044240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8BB349-8A74-48D4-9B2C-6B7307B63146}" type="datetimeFigureOut">
              <a:rPr lang="en-US" smtClean="0"/>
              <a:t>3/8/2025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332D4D5-9E91-CAB3-23F7-072ACD2FD450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E920F1-7E5E-2C26-6BF6-F39EDB4802C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27C5971-E361-4E9E-81FF-7A7FA42F634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419382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9D0770-9BF3-4E0C-912C-19DB68D8701C}" type="datetimeFigureOut">
              <a:rPr lang="en-US" smtClean="0"/>
              <a:t>3/8/2025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4FB2C2-2FFC-4004-9739-836BE6728BB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8278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4FB2C2-2FFC-4004-9739-836BE6728BB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296364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09ED0A-FBFF-0548-E16C-1E9F07921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D82EF11-8C24-5930-6822-C2B5BBDA04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C517B97-27EB-59E2-418B-111066D68FD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A9E3FB-F0D2-2CBA-4D3F-61A027B4F6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4FB2C2-2FFC-4004-9739-836BE6728BB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8927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471F19-3745-27ED-29AC-EC54F2DFB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C2EA577-BC47-5347-CB0F-BD74E957C7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DB74698-4D5A-BD00-8E17-F7792129027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D41682-E4BF-C814-D60F-D9277542F0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4FB2C2-2FFC-4004-9739-836BE6728BB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258480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66897-99F7-E4A3-7DEA-D360BBE68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7B50C2-9FAC-B053-649A-771F9E1339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AC0105-FE26-64D8-C53B-D8EC684C03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E97E84-67CB-04AA-E773-FA2087E425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4FB2C2-2FFC-4004-9739-836BE6728BB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5958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366897-99F7-E4A3-7DEA-D360BBE68C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17B50C2-9FAC-B053-649A-771F9E13399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AAC0105-FE26-64D8-C53B-D8EC684C03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3E97E84-67CB-04AA-E773-FA2087E425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4FB2C2-2FFC-4004-9739-836BE6728BB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45958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C62787-2CB9-A7FE-1695-750A2DEA9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BCB92AC-CC41-DE8E-1633-67660F35CE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1FE3A7-D574-8979-D9A2-F102B8D1846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918FB67-13E0-1D81-8ED3-25F1A7E99BF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4FB2C2-2FFC-4004-9739-836BE6728BB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945100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EB106B-4A74-7CFB-F874-0D8AA7488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CA9DA84-7531-A127-C842-F865C1022E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446994-51D5-440B-2B4E-BFD4DB2E58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9BC142-1F1F-3BF9-E11F-CF8FA9E8C66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4FB2C2-2FFC-4004-9739-836BE6728BB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867061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CC94E-F4C6-0DC3-1E3B-D1836617F4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D4CA8F-5D62-9286-99A0-DF3EFE7155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526378-880F-CAF3-51A2-98A3993CA0C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509703D-548A-26B8-6921-DA11D1547D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4FB2C2-2FFC-4004-9739-836BE6728BB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9665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0261B2-39A8-DC12-9553-CEB8002B97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28B2B4-6705-A180-DFA0-92B4ABA60D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EE1F5D-C0E8-BE4B-2936-D3326DB4EC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A4B8DD-04EB-792E-495C-BE25369427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4FB2C2-2FFC-4004-9739-836BE6728BB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690133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606808-57B2-6735-802E-BB4FF0D3E6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ACDF661-836B-F4EA-48E7-A2A4A2B439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425F098-5303-C9AB-6E0C-FA2F3A2CFD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E5B458-7FCC-4C74-DE0F-A3D3C1EBCF6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4FB2C2-2FFC-4004-9739-836BE6728BB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35152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855395-5183-6FAE-6C62-A0D1F0F69F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9F18507-5884-4DE2-6CB7-175FEB72C6C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7800E1-C8E7-7358-DEA3-1D327DFAF9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766DE8-596A-5AFA-BC61-8EB6FEF89E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84FB2C2-2FFC-4004-9739-836BE6728BB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66524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2F3C95-3E42-782E-C280-4DA3E3DFD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C2864D-E726-3A38-CFD0-FEA4128669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D71252-806E-BCFE-E5D7-251CAC792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330AE-2CF8-4141-A71C-0447601936FA}" type="datetimeFigureOut">
              <a:rPr lang="en-US" smtClean="0"/>
              <a:t>3/8/2025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E3394D2-6A17-40B0-5BF7-7EFE876ED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8DE7CB-BFE0-775D-9458-B4E7CB36E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638AF-BB9A-4916-B569-BAAD3E480A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29489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B0BAE5-1861-C296-587B-E28E42014D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F99E11-30CB-AE95-09F1-4161C667F8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4B4116-C4F3-7DB3-3581-6D64F69CF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330AE-2CF8-4141-A71C-0447601936FA}" type="datetimeFigureOut">
              <a:rPr lang="en-US" smtClean="0"/>
              <a:t>3/8/2025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FBBE42-BED0-1290-6FFA-0E1B33FD59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37EE47-08AE-680E-B40A-5D9398966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638AF-BB9A-4916-B569-BAAD3E480A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30667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6F381-F697-2951-9667-E27800C9C4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8D83625-0EBF-EC26-04D4-951C4B1673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79BA44-51F3-6EA0-0B40-741A04F1D8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330AE-2CF8-4141-A71C-0447601936FA}" type="datetimeFigureOut">
              <a:rPr lang="en-US" smtClean="0"/>
              <a:t>3/8/2025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671DEB-5CFD-1F28-ADAC-F843F8B6E8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45AFD3-A041-D214-CDFE-5C65A186E8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638AF-BB9A-4916-B569-BAAD3E480A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4339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B07544-9CA1-CADB-575A-12EF26A9B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EEC53D-6A38-5D6C-6CD4-B38D258B99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BD54D2-B96A-C531-0CF2-DA3A79A978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A5CC2D4-8E81-ACE9-FD98-2704D536AD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330AE-2CF8-4141-A71C-0447601936FA}" type="datetimeFigureOut">
              <a:rPr lang="en-US" smtClean="0"/>
              <a:t>3/8/2025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6914D11-4A27-D436-D0C5-A9C1684102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109784-BBB7-5C43-3E25-8FAA2CEAC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638AF-BB9A-4916-B569-BAAD3E480A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2383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2E7E99-990B-5A48-91BF-9E82DA4015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ED2CA9B-D3E3-0554-59B8-2B38EA4D84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98875B9-7986-9FED-6DC8-5187CACEE7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0863435-ADEE-0BBC-0D9C-4150D9630C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3D050F-02D0-C2A1-2E94-83E46D91C6A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6D998C7-4870-DE10-BE32-6F1B5FB02A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330AE-2CF8-4141-A71C-0447601936FA}" type="datetimeFigureOut">
              <a:rPr lang="en-US" smtClean="0"/>
              <a:t>3/8/2025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5CA0E34-DF4C-353A-2008-94F2F57164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7D1EAB8-99AA-9468-14FE-41654F8C42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638AF-BB9A-4916-B569-BAAD3E480A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8732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377FB7-0B95-C1A5-6C39-54A2E9953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8F69B4A-032B-1420-76C6-AC055770E7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330AE-2CF8-4141-A71C-0447601936FA}" type="datetimeFigureOut">
              <a:rPr lang="en-US" smtClean="0"/>
              <a:t>3/8/2025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A89BECD-5184-C34C-8A28-7D294A9781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DACFD7-61C0-AD77-8FC7-453BF18816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638AF-BB9A-4916-B569-BAAD3E480A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93017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4E7A1B-94A9-DE27-6B27-B8C557FB1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330AE-2CF8-4141-A71C-0447601936FA}" type="datetimeFigureOut">
              <a:rPr lang="en-US" smtClean="0"/>
              <a:t>3/8/2025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448A37F-1F38-4F50-CBF7-923D93065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C130D7-0CB1-AEB4-87DD-054F96C17E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638AF-BB9A-4916-B569-BAAD3E480A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99620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CA3887-F573-33AD-0F60-A18E9E7CBF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2DECFF-E26C-BE4E-5A7D-8130A5BA39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D01645-F76D-CCCF-382E-27F029AF55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57823D-EB1C-12ED-49F6-434ECFDE8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330AE-2CF8-4141-A71C-0447601936FA}" type="datetimeFigureOut">
              <a:rPr lang="en-US" smtClean="0"/>
              <a:t>3/8/2025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3FE0640-BD6B-1BB8-B330-DFA1611908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5EF297-BA21-0447-2757-8B6AC9603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638AF-BB9A-4916-B569-BAAD3E480A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5325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3D13C1-FAE5-79A0-108A-CCE7B5414C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94871A-476A-6D33-4661-9D7C7E5DBF0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13D2EB-6AAF-91F1-8263-602ADA95E4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ADEC00-A947-3F41-E295-15C884C570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330AE-2CF8-4141-A71C-0447601936FA}" type="datetimeFigureOut">
              <a:rPr lang="en-US" smtClean="0"/>
              <a:t>3/8/2025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AB8A621-82BA-05B3-F2B5-667B4D06D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502FC7-72F6-6FF3-692B-E3799DC3E6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638AF-BB9A-4916-B569-BAAD3E480A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3012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275224-3944-1BDD-DD42-29E19FCCF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16E6DD-16AD-DB7A-C7FE-DE5069CD80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68C85A-A9F9-FECF-BF0C-36D759BB0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330AE-2CF8-4141-A71C-0447601936FA}" type="datetimeFigureOut">
              <a:rPr lang="en-US" smtClean="0"/>
              <a:t>3/8/2025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14239E-7911-8B96-C0A3-F6AC13E8A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9A47AC-4295-14FF-E5B6-3BF3217EE2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638AF-BB9A-4916-B569-BAAD3E480A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1377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86F007B-BCDC-A103-CFCD-2BFA726414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FBC115-CA57-C8C8-EA5B-D3C2E5368A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32C273-1DCB-F464-5E5C-8055725D73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7330AE-2CF8-4141-A71C-0447601936FA}" type="datetimeFigureOut">
              <a:rPr lang="en-US" smtClean="0"/>
              <a:t>3/8/2025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572921-B3DC-B4B9-7C33-09DF9B1F60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322A1C-5CD3-521F-29A1-0F41D32368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638AF-BB9A-4916-B569-BAAD3E480A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39536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79B663-9E26-63F8-54B9-F48F78D81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A968FE-965B-B75C-30FD-614F6ED1A8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C79DBB1-4F96-A194-EFA0-2B11BB6F90E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07330AE-2CF8-4141-A71C-0447601936FA}" type="datetimeFigureOut">
              <a:rPr lang="en-US" smtClean="0"/>
              <a:t>3/8/2025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0B99A7-DAD9-3A10-7AD9-4E4666889A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31479D-87B3-1883-F626-A51C457149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1638AF-BB9A-4916-B569-BAAD3E480A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26612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8D8237-7ECE-0DF8-7C6C-0A3647C75D3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378618"/>
            <a:ext cx="9144000" cy="939483"/>
          </a:xfrm>
        </p:spPr>
        <p:txBody>
          <a:bodyPr>
            <a:normAutofit/>
          </a:bodyPr>
          <a:lstStyle/>
          <a:p>
            <a:r>
              <a:rPr lang="en-US" sz="4800" dirty="0"/>
              <a:t>Section 3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ABFB04-74FB-3221-A569-A4F720E41E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318101"/>
            <a:ext cx="9144000" cy="571659"/>
          </a:xfrm>
        </p:spPr>
        <p:txBody>
          <a:bodyPr>
            <a:normAutofit/>
          </a:bodyPr>
          <a:lstStyle/>
          <a:p>
            <a:r>
              <a:rPr lang="en-US" sz="2800" dirty="0"/>
              <a:t>Ch3. Introduction to SQL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0D858D64-E6D1-741A-94A0-5724D81838AC}"/>
              </a:ext>
            </a:extLst>
          </p:cNvPr>
          <p:cNvSpPr txBox="1">
            <a:spLocks/>
          </p:cNvSpPr>
          <p:nvPr/>
        </p:nvSpPr>
        <p:spPr>
          <a:xfrm>
            <a:off x="939800" y="2468324"/>
            <a:ext cx="9144000" cy="268335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Arial" panose="020B0604020202020204" pitchFamily="34" charset="0"/>
              <a:buNone/>
            </a:pPr>
            <a:r>
              <a:rPr lang="en-US" sz="2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Slide contents follow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sz="27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Database System Concepts, 7th edition.</a:t>
            </a:r>
          </a:p>
          <a:p>
            <a:pPr>
              <a:buFont typeface="Arial" panose="020B0604020202020204" pitchFamily="34" charset="0"/>
              <a:buNone/>
            </a:pPr>
            <a:endParaRPr lang="en-US" sz="27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en-US" sz="27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Prepared by:</a:t>
            </a:r>
          </a:p>
          <a:p>
            <a:pPr>
              <a:buFont typeface="Arial" panose="020B0604020202020204" pitchFamily="34" charset="0"/>
              <a:buNone/>
            </a:pPr>
            <a:r>
              <a:rPr lang="en-US" sz="2700" dirty="0"/>
              <a:t>AbdElrahman Rabea, Eng.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7369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478019-0470-A77F-32C7-FD1E60DF5C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18116F0-0C79-E5F3-1F92-169970C31AC0}"/>
              </a:ext>
            </a:extLst>
          </p:cNvPr>
          <p:cNvSpPr/>
          <p:nvPr/>
        </p:nvSpPr>
        <p:spPr>
          <a:xfrm>
            <a:off x="0" y="0"/>
            <a:ext cx="12192000" cy="843280"/>
          </a:xfrm>
          <a:prstGeom prst="rect">
            <a:avLst/>
          </a:prstGeom>
          <a:gradFill>
            <a:gsLst>
              <a:gs pos="0">
                <a:srgbClr val="008EF8"/>
              </a:gs>
              <a:gs pos="100000">
                <a:srgbClr val="5FBBFF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rtlCol="0" anchor="ctr"/>
          <a:lstStyle/>
          <a:p>
            <a:r>
              <a:rPr lang="en-US" sz="40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SQL</a:t>
            </a:r>
          </a:p>
        </p:txBody>
      </p:sp>
      <p:sp>
        <p:nvSpPr>
          <p:cNvPr id="117" name="Content Placeholder 4">
            <a:extLst>
              <a:ext uri="{FF2B5EF4-FFF2-40B4-BE49-F238E27FC236}">
                <a16:creationId xmlns:a16="http://schemas.microsoft.com/office/drawing/2014/main" id="{EDCF0484-32FA-94EC-A93A-BC12BBC246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50024" y="891887"/>
            <a:ext cx="6138455" cy="5912426"/>
          </a:xfrm>
          <a:solidFill>
            <a:srgbClr val="E7E7E7"/>
          </a:solidFill>
          <a:ln>
            <a:noFill/>
          </a:ln>
          <a:effectLst>
            <a:softEdge rad="0"/>
          </a:effectLst>
        </p:spPr>
        <p:txBody>
          <a:bodyPr lIns="182880" tIns="182880">
            <a:no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SQL refers to Structured Query Language.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SQL serves as the interface between users or applications and the database management system (DBMS).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It is referred as query language but it can do much more than query database</a:t>
            </a:r>
          </a:p>
          <a:p>
            <a:r>
              <a:rPr lang="en-US" sz="2000" dirty="0"/>
              <a:t>SQL enables users to perform essential database operations, including:</a:t>
            </a:r>
          </a:p>
          <a:p>
            <a:pPr lvl="1">
              <a:buFont typeface="+mj-lt"/>
              <a:buAutoNum type="arabicPeriod"/>
            </a:pPr>
            <a:r>
              <a:rPr lang="en-US" sz="1600" dirty="0"/>
              <a:t>Data Definition: Creating, altering, and deleting database structures such as tables.</a:t>
            </a:r>
          </a:p>
          <a:p>
            <a:pPr lvl="1">
              <a:buFont typeface="+mj-lt"/>
              <a:buAutoNum type="arabicPeriod"/>
            </a:pPr>
            <a:r>
              <a:rPr lang="en-US" sz="1600" dirty="0"/>
              <a:t>Data Manipulation: Inserting, updating, retrieving, and deleting data.</a:t>
            </a:r>
          </a:p>
          <a:p>
            <a:pPr lvl="1">
              <a:buFont typeface="+mj-lt"/>
              <a:buAutoNum type="arabicPeriod"/>
            </a:pPr>
            <a:r>
              <a:rPr lang="en-US" sz="1600" dirty="0"/>
              <a:t>Data Control: Managing database access permissions and security.</a:t>
            </a:r>
          </a:p>
          <a:p>
            <a:pPr lvl="1">
              <a:buFont typeface="+mj-lt"/>
              <a:buAutoNum type="arabicPeriod"/>
            </a:pPr>
            <a:r>
              <a:rPr lang="en-US" sz="1600" dirty="0"/>
              <a:t>Transaction Control: Ensuring database integrity during operations.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You can use it interactive (GUI), prompt or embedded in programs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Declarative and based on relational algebra</a:t>
            </a:r>
          </a:p>
        </p:txBody>
      </p:sp>
      <p:pic>
        <p:nvPicPr>
          <p:cNvPr id="1026" name="Picture 2" descr="SQL Commands types">
            <a:extLst>
              <a:ext uri="{FF2B5EF4-FFF2-40B4-BE49-F238E27FC236}">
                <a16:creationId xmlns:a16="http://schemas.microsoft.com/office/drawing/2014/main" id="{0A3E50A0-F74F-029A-4B0F-89FECE1954F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6760" y="1584892"/>
            <a:ext cx="4599985" cy="42947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05340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F37F50-DFBA-12C5-F1C1-B1D32745CA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62E3B70-F9FA-BFC6-9B2F-625CA80E47D9}"/>
              </a:ext>
            </a:extLst>
          </p:cNvPr>
          <p:cNvSpPr/>
          <p:nvPr/>
        </p:nvSpPr>
        <p:spPr>
          <a:xfrm>
            <a:off x="0" y="0"/>
            <a:ext cx="12192000" cy="843280"/>
          </a:xfrm>
          <a:prstGeom prst="rect">
            <a:avLst/>
          </a:prstGeom>
          <a:gradFill>
            <a:gsLst>
              <a:gs pos="0">
                <a:srgbClr val="008EF8"/>
              </a:gs>
              <a:gs pos="100000">
                <a:srgbClr val="5FBBFF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rtlCol="0" anchor="ctr"/>
          <a:lstStyle/>
          <a:p>
            <a:r>
              <a:rPr lang="en-US" sz="40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SQL History Timeline</a:t>
            </a:r>
          </a:p>
        </p:txBody>
      </p:sp>
      <p:sp>
        <p:nvSpPr>
          <p:cNvPr id="117" name="Content Placeholder 4">
            <a:extLst>
              <a:ext uri="{FF2B5EF4-FFF2-40B4-BE49-F238E27FC236}">
                <a16:creationId xmlns:a16="http://schemas.microsoft.com/office/drawing/2014/main" id="{A33EC267-8492-FEF6-2786-E17545B4D01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1978" y="945574"/>
            <a:ext cx="11337773" cy="5694218"/>
          </a:xfrm>
          <a:solidFill>
            <a:srgbClr val="E7E7E7"/>
          </a:solidFill>
          <a:ln>
            <a:noFill/>
          </a:ln>
          <a:effectLst>
            <a:softEdge rad="0"/>
          </a:effectLst>
        </p:spPr>
        <p:txBody>
          <a:bodyPr lIns="182880" tIns="182880">
            <a:noAutofit/>
          </a:bodyPr>
          <a:lstStyle/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Early 1970s: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IBM developed the original version of SQL, initially called Sequel, as part of the System R project.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Late 1970s: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language evolved, and its name changed to SQL (Structured Query Language).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1986: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American National Standards Institute (ANSI) and International Organization for Standardization (ISO) published the first SQL standard, SQL-86.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1989:</a:t>
            </a:r>
            <a:r>
              <a:rPr lang="en-US" altLang="en-US" sz="1800" dirty="0">
                <a:latin typeface="Arial" panose="020B0604020202020204" pitchFamily="34" charset="0"/>
              </a:rPr>
              <a:t> ANSI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released an extended standard, SQL-89.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1992: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SQL-92 standard introduced significant improvements.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1999: 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SQL:1999 introduced features like triggers, recursive queries, and procedural extensions (e.g., procedural SQL).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2003: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SQL:2003 added XML-related features and window functions.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2006: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SQL:2006 improved XML integration.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2008: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SQL:2008 introduced new data types, MERGE statements, and better error handling.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2011: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SQL:2011 focused on temporal databases, adding support for tracking historical data.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2016: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SQL:2016 introduced JSON support, enhanced analytics, and new security features.</a:t>
            </a:r>
          </a:p>
          <a:p>
            <a:pPr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2023:</a:t>
            </a:r>
            <a:r>
              <a:rPr kumimoji="0" lang="en-US" altLang="en-US" sz="18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 most recent standard, SQL:2023 </a:t>
            </a:r>
          </a:p>
          <a:p>
            <a:endParaRPr lang="en-US"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2773DCE-979C-5A0F-7B64-FE90F3576478}"/>
              </a:ext>
            </a:extLst>
          </p:cNvPr>
          <p:cNvSpPr txBox="1"/>
          <p:nvPr/>
        </p:nvSpPr>
        <p:spPr>
          <a:xfrm>
            <a:off x="916251" y="5312261"/>
            <a:ext cx="110235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71C5"/>
                </a:solidFill>
                <a:effectLst/>
                <a:latin typeface="Arial" panose="020B0604020202020204" pitchFamily="34" charset="0"/>
              </a:rPr>
              <a:t>Most commercial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71C5"/>
                </a:solidFill>
                <a:effectLst/>
                <a:latin typeface="Arial" panose="020B0604020202020204" pitchFamily="34" charset="0"/>
              </a:rPr>
              <a:t>RDBMS (Relational Database Management Systems)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71C5"/>
                </a:solidFill>
                <a:effectLst/>
                <a:latin typeface="Arial" panose="020B0604020202020204" pitchFamily="34" charset="0"/>
              </a:rPr>
              <a:t> fully implement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71C5"/>
                </a:solidFill>
                <a:effectLst/>
                <a:latin typeface="Arial" panose="020B0604020202020204" pitchFamily="34" charset="0"/>
              </a:rPr>
              <a:t>SQL-92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71C5"/>
                </a:solidFill>
                <a:effectLst/>
                <a:latin typeface="Arial" panose="020B0604020202020204" pitchFamily="34" charset="0"/>
              </a:rPr>
              <a:t>, along with features from later SQL standards. However,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rgbClr val="0071C5"/>
                </a:solidFill>
                <a:effectLst/>
                <a:latin typeface="Arial" panose="020B0604020202020204" pitchFamily="34" charset="0"/>
              </a:rPr>
              <a:t>each DBMS adds its own proprietary features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rgbClr val="0071C5"/>
                </a:solidFill>
                <a:effectLst/>
                <a:latin typeface="Arial" panose="020B0604020202020204" pitchFamily="34" charset="0"/>
              </a:rPr>
              <a:t> beyond the standard. 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solidFill>
                  <a:srgbClr val="0071C5"/>
                </a:solidFill>
                <a:latin typeface="Arial" panose="020B0604020202020204" pitchFamily="34" charset="0"/>
              </a:rPr>
              <a:t>All SQL statements covered in this course are compatible with Microsoft SQL Server.</a:t>
            </a:r>
          </a:p>
        </p:txBody>
      </p:sp>
      <p:sp>
        <p:nvSpPr>
          <p:cNvPr id="9" name="Rectangle 4">
            <a:extLst>
              <a:ext uri="{FF2B5EF4-FFF2-40B4-BE49-F238E27FC236}">
                <a16:creationId xmlns:a16="http://schemas.microsoft.com/office/drawing/2014/main" id="{C2576357-B5A1-506C-029C-DBA58AD66C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3934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789570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F9681-118A-0338-12C1-03DCA626E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ABA12E5-DAE6-5607-06A7-A47BC42792BA}"/>
              </a:ext>
            </a:extLst>
          </p:cNvPr>
          <p:cNvSpPr/>
          <p:nvPr/>
        </p:nvSpPr>
        <p:spPr>
          <a:xfrm>
            <a:off x="0" y="0"/>
            <a:ext cx="12192000" cy="843280"/>
          </a:xfrm>
          <a:prstGeom prst="rect">
            <a:avLst/>
          </a:prstGeom>
          <a:gradFill>
            <a:gsLst>
              <a:gs pos="0">
                <a:srgbClr val="008EF8"/>
              </a:gs>
              <a:gs pos="100000">
                <a:srgbClr val="5FBBFF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rtlCol="0" anchor="ctr"/>
          <a:lstStyle/>
          <a:p>
            <a:r>
              <a:rPr lang="en-US" sz="40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Data Definition Language (DDL)</a:t>
            </a:r>
          </a:p>
        </p:txBody>
      </p:sp>
      <p:sp>
        <p:nvSpPr>
          <p:cNvPr id="117" name="Content Placeholder 4">
            <a:extLst>
              <a:ext uri="{FF2B5EF4-FFF2-40B4-BE49-F238E27FC236}">
                <a16:creationId xmlns:a16="http://schemas.microsoft.com/office/drawing/2014/main" id="{FCFB049D-9176-56B6-25ED-EC0D19DE71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1979" y="945574"/>
            <a:ext cx="5642957" cy="5694218"/>
          </a:xfrm>
          <a:solidFill>
            <a:srgbClr val="E7E7E7"/>
          </a:solidFill>
          <a:ln>
            <a:noFill/>
          </a:ln>
          <a:effectLst>
            <a:softEdge rad="0"/>
          </a:effectLst>
        </p:spPr>
        <p:txBody>
          <a:bodyPr lIns="182880" tIns="182880">
            <a:noAutofit/>
          </a:bodyPr>
          <a:lstStyle/>
          <a:p>
            <a:pPr marL="0" indent="0" algn="ctr">
              <a:buNone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What DDL can do?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Defines the schema for each relation.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Specifies the types of values for each attribute.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Enforces integrity constraints (PRIMARY KEY, FOREIGN KEY, UNIQUE, NOT NULL, CHECK).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Defines indexes to improve query performance.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Manages security and authorization (GRANT, REVOKE).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Specifies the physical storage structure of relations on disk.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Allows view creation (CREATE VIEW).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Supports triggers for automated actions.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Defines sequences and auto-increment for unique identifiers. </a:t>
            </a:r>
          </a:p>
          <a:p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C20074A-26F8-8B01-5A3A-5206079F2DD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265" b="2693"/>
          <a:stretch/>
        </p:blipFill>
        <p:spPr>
          <a:xfrm>
            <a:off x="7006512" y="1076325"/>
            <a:ext cx="4711919" cy="54829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05481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EF9681-118A-0338-12C1-03DCA626E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2ABA12E5-DAE6-5607-06A7-A47BC42792BA}"/>
              </a:ext>
            </a:extLst>
          </p:cNvPr>
          <p:cNvSpPr/>
          <p:nvPr/>
        </p:nvSpPr>
        <p:spPr>
          <a:xfrm>
            <a:off x="0" y="0"/>
            <a:ext cx="12192000" cy="843280"/>
          </a:xfrm>
          <a:prstGeom prst="rect">
            <a:avLst/>
          </a:prstGeom>
          <a:gradFill>
            <a:gsLst>
              <a:gs pos="0">
                <a:srgbClr val="008EF8"/>
              </a:gs>
              <a:gs pos="100000">
                <a:srgbClr val="5FBBFF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rtlCol="0" anchor="ctr"/>
          <a:lstStyle/>
          <a:p>
            <a:r>
              <a:rPr lang="en-US" sz="40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Recall Relational model structure</a:t>
            </a:r>
          </a:p>
        </p:txBody>
      </p:sp>
      <p:sp>
        <p:nvSpPr>
          <p:cNvPr id="117" name="Content Placeholder 4">
            <a:extLst>
              <a:ext uri="{FF2B5EF4-FFF2-40B4-BE49-F238E27FC236}">
                <a16:creationId xmlns:a16="http://schemas.microsoft.com/office/drawing/2014/main" id="{FCFB049D-9176-56B6-25ED-EC0D19DE71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1979" y="945574"/>
            <a:ext cx="5642957" cy="5694218"/>
          </a:xfrm>
          <a:solidFill>
            <a:srgbClr val="E7E7E7"/>
          </a:solidFill>
          <a:ln>
            <a:noFill/>
          </a:ln>
          <a:effectLst>
            <a:softEdge rad="0"/>
          </a:effectLst>
        </p:spPr>
        <p:txBody>
          <a:bodyPr lIns="182880" tIns="182880">
            <a:no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relational database consists of set of named relations (tables)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Each relation has a set of named attributes (columns)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Each tuple (row) has a value for each attribute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Each attribute has a domain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Domain is t</a:t>
            </a:r>
            <a:r>
              <a:rPr lang="en-US" altLang="en-US" sz="2000" dirty="0"/>
              <a:t>he set of allowed values for each attribute. Ex. dept-name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special value </a:t>
            </a: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null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is a member of every domain. Indicated that the value is “unknown”.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The null value causes complications in the definition of many operations.</a:t>
            </a:r>
          </a:p>
          <a:p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505" name="object 4">
            <a:extLst>
              <a:ext uri="{FF2B5EF4-FFF2-40B4-BE49-F238E27FC236}">
                <a16:creationId xmlns:a16="http://schemas.microsoft.com/office/drawing/2014/main" id="{FE17136C-151A-144B-1C70-F86E38B83A24}"/>
              </a:ext>
            </a:extLst>
          </p:cNvPr>
          <p:cNvGraphicFramePr>
            <a:graphicFrameLocks noGrp="1"/>
          </p:cNvGraphicFramePr>
          <p:nvPr/>
        </p:nvGraphicFramePr>
        <p:xfrm>
          <a:off x="6754942" y="1988265"/>
          <a:ext cx="3759806" cy="377585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7630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95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231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48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364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130"/>
                        </a:spcBef>
                      </a:pPr>
                      <a:r>
                        <a:rPr sz="1200" i="1" spc="-25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ID</a:t>
                      </a:r>
                      <a:endParaRPr sz="12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1651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600" i="1" spc="-2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name</a:t>
                      </a: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tc>
                  <a:txBody>
                    <a:bodyPr/>
                    <a:lstStyle/>
                    <a:p>
                      <a:pPr marL="93345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600" i="1" spc="-25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dept</a:t>
                      </a:r>
                      <a:r>
                        <a:rPr sz="1600" i="1" spc="-45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600" i="1" spc="-2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name</a:t>
                      </a: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tc>
                  <a:txBody>
                    <a:bodyPr/>
                    <a:lstStyle/>
                    <a:p>
                      <a:pPr marL="20320" algn="ctr">
                        <a:lnSpc>
                          <a:spcPct val="100000"/>
                        </a:lnSpc>
                        <a:spcBef>
                          <a:spcPts val="30"/>
                        </a:spcBef>
                      </a:pPr>
                      <a:r>
                        <a:rPr sz="1600" i="1" spc="-1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salary</a:t>
                      </a:r>
                      <a:endParaRPr sz="16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81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  <a:lnB w="6350">
                      <a:solidFill>
                        <a:srgbClr val="221E1F"/>
                      </a:solidFill>
                      <a:prstDash val="solid"/>
                    </a:lnB>
                    <a:solidFill>
                      <a:srgbClr val="C6E9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1292"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240"/>
                        </a:spcBef>
                      </a:pPr>
                      <a:r>
                        <a:rPr sz="1400" spc="-1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22222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310"/>
                        </a:lnSpc>
                        <a:spcBef>
                          <a:spcPts val="240"/>
                        </a:spcBef>
                      </a:pPr>
                      <a:r>
                        <a:rPr sz="1400" spc="-1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Einstein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310"/>
                        </a:lnSpc>
                        <a:spcBef>
                          <a:spcPts val="240"/>
                        </a:spcBef>
                      </a:pPr>
                      <a:r>
                        <a:rPr sz="1400" spc="-1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Physics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10"/>
                        </a:lnSpc>
                        <a:spcBef>
                          <a:spcPts val="240"/>
                        </a:spcBef>
                      </a:pPr>
                      <a:r>
                        <a:rPr sz="1400" spc="-1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95000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3048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T w="6350">
                      <a:solidFill>
                        <a:srgbClr val="221E1F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5711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400" spc="-1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12121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400" spc="-25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Wu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400" spc="-1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Finance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400" spc="-1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90000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5711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400" spc="-2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32343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El</a:t>
                      </a:r>
                      <a:r>
                        <a:rPr sz="1400" spc="-2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 Said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400" spc="-1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History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400" spc="-1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60000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5711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400" spc="-1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45565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400" spc="-2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Katz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Comp.</a:t>
                      </a:r>
                      <a:r>
                        <a:rPr sz="1400" spc="-5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Sci.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7620" algn="ctr">
                        <a:lnSpc>
                          <a:spcPts val="1195"/>
                        </a:lnSpc>
                      </a:pPr>
                      <a:r>
                        <a:rPr sz="1400" spc="-1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75000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5711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400" spc="-2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98345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400" spc="-25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Kim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400" spc="-1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Elec.</a:t>
                      </a:r>
                      <a:r>
                        <a:rPr sz="1400" spc="-25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Eng.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400" spc="-1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80000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647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400" spc="-1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76766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400" spc="-1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Crick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400" spc="-1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Biology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4445" algn="ctr">
                        <a:lnSpc>
                          <a:spcPts val="1195"/>
                        </a:lnSpc>
                      </a:pPr>
                      <a:r>
                        <a:rPr sz="1400" spc="-1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72000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4647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400" spc="-1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10101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400" spc="-1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Srinivasan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Comp.</a:t>
                      </a:r>
                      <a:r>
                        <a:rPr sz="1400" spc="-5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Sci.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400" spc="-1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65000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75711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400" spc="-1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58583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400" spc="-1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Califieri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400" spc="-1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History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400" spc="-1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62000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75711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400" spc="-1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83821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400" spc="-1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Brandt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40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Comp.</a:t>
                      </a:r>
                      <a:r>
                        <a:rPr sz="1400" spc="-5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sz="1400" spc="-2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Sci.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400" spc="-1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92000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75711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400" spc="-1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15151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400" spc="-1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Mozart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400" spc="-1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Music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400" spc="-1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40000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275711">
                <a:tc>
                  <a:txBody>
                    <a:bodyPr/>
                    <a:lstStyle/>
                    <a:p>
                      <a:pPr algn="ctr">
                        <a:lnSpc>
                          <a:spcPts val="1195"/>
                        </a:lnSpc>
                      </a:pPr>
                      <a:r>
                        <a:rPr sz="1400" spc="-2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33456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400" spc="-2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Gold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195"/>
                        </a:lnSpc>
                      </a:pPr>
                      <a:r>
                        <a:rPr sz="1400" spc="-1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Physics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tc>
                  <a:txBody>
                    <a:bodyPr/>
                    <a:lstStyle/>
                    <a:p>
                      <a:pPr marL="3175" algn="ctr">
                        <a:lnSpc>
                          <a:spcPts val="1195"/>
                        </a:lnSpc>
                      </a:pPr>
                      <a:r>
                        <a:rPr sz="1400" spc="-1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87000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295937">
                <a:tc>
                  <a:txBody>
                    <a:bodyPr/>
                    <a:lstStyle/>
                    <a:p>
                      <a:pPr algn="ctr">
                        <a:lnSpc>
                          <a:spcPts val="1205"/>
                        </a:lnSpc>
                      </a:pPr>
                      <a:r>
                        <a:rPr sz="1400" spc="-1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76543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205"/>
                        </a:lnSpc>
                      </a:pPr>
                      <a:r>
                        <a:rPr sz="1400" spc="-1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Singh</a:t>
                      </a:r>
                      <a:endParaRPr sz="14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ts val="1205"/>
                        </a:lnSpc>
                      </a:pPr>
                      <a:r>
                        <a:rPr sz="1400" spc="-1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Finance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205"/>
                        </a:lnSpc>
                      </a:pPr>
                      <a:r>
                        <a:rPr sz="1400" spc="-10" dirty="0">
                          <a:solidFill>
                            <a:srgbClr val="231F20"/>
                          </a:solidFill>
                          <a:latin typeface="Times New Roman"/>
                          <a:cs typeface="Times New Roman"/>
                        </a:rPr>
                        <a:t>80000</a:t>
                      </a:r>
                      <a:endParaRPr sz="14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 anchor="ctr">
                    <a:lnL w="6350">
                      <a:solidFill>
                        <a:srgbClr val="221E1F"/>
                      </a:solidFill>
                      <a:prstDash val="solid"/>
                    </a:lnL>
                    <a:lnR w="6350">
                      <a:solidFill>
                        <a:srgbClr val="221E1F"/>
                      </a:solidFill>
                      <a:prstDash val="solid"/>
                    </a:lnR>
                    <a:lnB w="6350">
                      <a:solidFill>
                        <a:srgbClr val="221E1F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sp>
        <p:nvSpPr>
          <p:cNvPr id="506" name="TextBox 505">
            <a:extLst>
              <a:ext uri="{FF2B5EF4-FFF2-40B4-BE49-F238E27FC236}">
                <a16:creationId xmlns:a16="http://schemas.microsoft.com/office/drawing/2014/main" id="{64F68CAD-A4FA-54C1-B6C9-AECEAA5A28BB}"/>
              </a:ext>
            </a:extLst>
          </p:cNvPr>
          <p:cNvSpPr txBox="1"/>
          <p:nvPr/>
        </p:nvSpPr>
        <p:spPr>
          <a:xfrm>
            <a:off x="6656613" y="1728563"/>
            <a:ext cx="176958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instructor relation</a:t>
            </a:r>
          </a:p>
        </p:txBody>
      </p:sp>
      <p:sp>
        <p:nvSpPr>
          <p:cNvPr id="507" name="TextBox 506">
            <a:extLst>
              <a:ext uri="{FF2B5EF4-FFF2-40B4-BE49-F238E27FC236}">
                <a16:creationId xmlns:a16="http://schemas.microsoft.com/office/drawing/2014/main" id="{4C45BEC2-CBB9-25B4-5F11-DCA7E3F2CFE9}"/>
              </a:ext>
            </a:extLst>
          </p:cNvPr>
          <p:cNvSpPr txBox="1"/>
          <p:nvPr/>
        </p:nvSpPr>
        <p:spPr>
          <a:xfrm>
            <a:off x="9696521" y="1305826"/>
            <a:ext cx="17721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Attributes (columns)</a:t>
            </a:r>
          </a:p>
        </p:txBody>
      </p:sp>
      <p:sp>
        <p:nvSpPr>
          <p:cNvPr id="509" name="TextBox 508">
            <a:extLst>
              <a:ext uri="{FF2B5EF4-FFF2-40B4-BE49-F238E27FC236}">
                <a16:creationId xmlns:a16="http://schemas.microsoft.com/office/drawing/2014/main" id="{B5F81862-3BC6-3F09-9A55-FEB70882065A}"/>
              </a:ext>
            </a:extLst>
          </p:cNvPr>
          <p:cNvSpPr txBox="1"/>
          <p:nvPr/>
        </p:nvSpPr>
        <p:spPr>
          <a:xfrm>
            <a:off x="10718175" y="2690895"/>
            <a:ext cx="120712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Tuples (rows)</a:t>
            </a:r>
          </a:p>
        </p:txBody>
      </p:sp>
      <p:cxnSp>
        <p:nvCxnSpPr>
          <p:cNvPr id="511" name="Straight Arrow Connector 510">
            <a:extLst>
              <a:ext uri="{FF2B5EF4-FFF2-40B4-BE49-F238E27FC236}">
                <a16:creationId xmlns:a16="http://schemas.microsoft.com/office/drawing/2014/main" id="{6953D747-1BFB-3303-FFDC-4551C4CB395C}"/>
              </a:ext>
            </a:extLst>
          </p:cNvPr>
          <p:cNvCxnSpPr>
            <a:cxnSpLocks/>
            <a:stCxn id="509" idx="1"/>
          </p:cNvCxnSpPr>
          <p:nvPr/>
        </p:nvCxnSpPr>
        <p:spPr>
          <a:xfrm flipH="1">
            <a:off x="10401300" y="2844784"/>
            <a:ext cx="316875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3" name="Straight Arrow Connector 512">
            <a:extLst>
              <a:ext uri="{FF2B5EF4-FFF2-40B4-BE49-F238E27FC236}">
                <a16:creationId xmlns:a16="http://schemas.microsoft.com/office/drawing/2014/main" id="{E6400EAA-016E-00ED-DD58-CB40C9A25B1B}"/>
              </a:ext>
            </a:extLst>
          </p:cNvPr>
          <p:cNvCxnSpPr>
            <a:cxnSpLocks/>
            <a:stCxn id="509" idx="1"/>
          </p:cNvCxnSpPr>
          <p:nvPr/>
        </p:nvCxnSpPr>
        <p:spPr>
          <a:xfrm flipH="1" flipV="1">
            <a:off x="10401300" y="2529840"/>
            <a:ext cx="316875" cy="31494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6" name="Straight Arrow Connector 515">
            <a:extLst>
              <a:ext uri="{FF2B5EF4-FFF2-40B4-BE49-F238E27FC236}">
                <a16:creationId xmlns:a16="http://schemas.microsoft.com/office/drawing/2014/main" id="{CCF1803C-C5F1-9DAC-2856-3A8DDC57A114}"/>
              </a:ext>
            </a:extLst>
          </p:cNvPr>
          <p:cNvCxnSpPr>
            <a:cxnSpLocks/>
            <a:stCxn id="509" idx="1"/>
          </p:cNvCxnSpPr>
          <p:nvPr/>
        </p:nvCxnSpPr>
        <p:spPr>
          <a:xfrm flipH="1">
            <a:off x="10401300" y="2844784"/>
            <a:ext cx="316875" cy="24131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19" name="Straight Arrow Connector 518">
            <a:extLst>
              <a:ext uri="{FF2B5EF4-FFF2-40B4-BE49-F238E27FC236}">
                <a16:creationId xmlns:a16="http://schemas.microsoft.com/office/drawing/2014/main" id="{E002350A-AAA3-CB72-53B2-3E08FAA28DBE}"/>
              </a:ext>
            </a:extLst>
          </p:cNvPr>
          <p:cNvCxnSpPr>
            <a:cxnSpLocks/>
            <a:stCxn id="507" idx="2"/>
          </p:cNvCxnSpPr>
          <p:nvPr/>
        </p:nvCxnSpPr>
        <p:spPr>
          <a:xfrm flipH="1">
            <a:off x="10164009" y="1613603"/>
            <a:ext cx="418588" cy="3750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2" name="Straight Arrow Connector 521">
            <a:extLst>
              <a:ext uri="{FF2B5EF4-FFF2-40B4-BE49-F238E27FC236}">
                <a16:creationId xmlns:a16="http://schemas.microsoft.com/office/drawing/2014/main" id="{C08F82F6-8B15-B6A4-BF5E-23490EC4EEE8}"/>
              </a:ext>
            </a:extLst>
          </p:cNvPr>
          <p:cNvCxnSpPr>
            <a:cxnSpLocks/>
            <a:stCxn id="507" idx="2"/>
          </p:cNvCxnSpPr>
          <p:nvPr/>
        </p:nvCxnSpPr>
        <p:spPr>
          <a:xfrm flipH="1">
            <a:off x="9167711" y="1613603"/>
            <a:ext cx="1414886" cy="3750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6" name="Straight Arrow Connector 525">
            <a:extLst>
              <a:ext uri="{FF2B5EF4-FFF2-40B4-BE49-F238E27FC236}">
                <a16:creationId xmlns:a16="http://schemas.microsoft.com/office/drawing/2014/main" id="{A4F111C5-300A-5572-F233-EF41B148D3B7}"/>
              </a:ext>
            </a:extLst>
          </p:cNvPr>
          <p:cNvCxnSpPr>
            <a:cxnSpLocks/>
            <a:stCxn id="507" idx="2"/>
          </p:cNvCxnSpPr>
          <p:nvPr/>
        </p:nvCxnSpPr>
        <p:spPr>
          <a:xfrm flipH="1">
            <a:off x="8171413" y="1613603"/>
            <a:ext cx="2411184" cy="37506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33935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7" grpId="0"/>
      <p:bldP spid="50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18138C-54BD-D1E6-202A-068C76FD3D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B213C9C8-FFC4-5D22-05DB-98CDF3201DBB}"/>
              </a:ext>
            </a:extLst>
          </p:cNvPr>
          <p:cNvSpPr/>
          <p:nvPr/>
        </p:nvSpPr>
        <p:spPr>
          <a:xfrm>
            <a:off x="0" y="0"/>
            <a:ext cx="12192000" cy="843280"/>
          </a:xfrm>
          <a:prstGeom prst="rect">
            <a:avLst/>
          </a:prstGeom>
          <a:gradFill>
            <a:gsLst>
              <a:gs pos="0">
                <a:srgbClr val="008EF8"/>
              </a:gs>
              <a:gs pos="100000">
                <a:srgbClr val="5FBBFF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rtlCol="0" anchor="ctr"/>
          <a:lstStyle/>
          <a:p>
            <a:r>
              <a:rPr lang="en-US" sz="40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Recall Keys</a:t>
            </a:r>
          </a:p>
        </p:txBody>
      </p:sp>
      <p:sp>
        <p:nvSpPr>
          <p:cNvPr id="117" name="Content Placeholder 4">
            <a:extLst>
              <a:ext uri="{FF2B5EF4-FFF2-40B4-BE49-F238E27FC236}">
                <a16:creationId xmlns:a16="http://schemas.microsoft.com/office/drawing/2014/main" id="{21296A25-4753-3F1F-1FF2-42DD4F8794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1979" y="945574"/>
            <a:ext cx="5642957" cy="5694218"/>
          </a:xfrm>
          <a:solidFill>
            <a:srgbClr val="E7E7E7"/>
          </a:solidFill>
          <a:ln>
            <a:noFill/>
          </a:ln>
          <a:effectLst>
            <a:softEdge rad="0"/>
          </a:effectLst>
        </p:spPr>
        <p:txBody>
          <a:bodyPr lIns="182880" tIns="182880">
            <a:noAutofit/>
          </a:bodyPr>
          <a:lstStyle/>
          <a:p>
            <a:pPr marL="0" lvl="1" indent="0">
              <a:buNone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Key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attribute whose value is unique in each tuple</a:t>
            </a:r>
            <a:r>
              <a:rPr lang="ar-EG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Or set of attributes whose combined values are unique</a:t>
            </a:r>
          </a:p>
          <a:p>
            <a:pPr marL="0" lvl="1" indent="0">
              <a:buNone/>
            </a:pPr>
            <a:r>
              <a:rPr lang="en-US" sz="20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Primary key: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key that is unique and can’t be null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Foreign-key </a:t>
            </a:r>
            <a:r>
              <a:rPr kumimoji="0" lang="en-US" altLang="en-US" sz="20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constrainst</a:t>
            </a: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Foreign-key constraints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enforce consistency between relations in a database.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 </a:t>
            </a:r>
            <a:r>
              <a:rPr kumimoji="0" lang="en-US" altLang="en-US" sz="1600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dept_name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attribute in the instructor relation must correspond to an existing department in the department relation, that is No tuple in instructor should have a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dept_name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value that does not exist in department.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Given a tuple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from instructor, there must be a corresponding tuple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tb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department with the same </a:t>
            </a:r>
            <a:r>
              <a:rPr kumimoji="0" lang="en-US" altLang="en-US" sz="16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dept_name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value.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foreign-key constraint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from attribute(s)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relation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r₁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to the primary key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relation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r₂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ensures: </a:t>
            </a:r>
          </a:p>
          <a:p>
            <a:pPr marL="457200" marR="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 value of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each tuple of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r₁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must match a value of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in some tuple of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r₂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The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foreign key (A)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belongs to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r₁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and references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r₂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r₁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called the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referencing relation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while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r₂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is the </a:t>
            </a: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referenced relation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</a:t>
            </a:r>
          </a:p>
          <a:p>
            <a:pPr marL="0" indent="0">
              <a:buNone/>
            </a:pP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object 45">
            <a:extLst>
              <a:ext uri="{FF2B5EF4-FFF2-40B4-BE49-F238E27FC236}">
                <a16:creationId xmlns:a16="http://schemas.microsoft.com/office/drawing/2014/main" id="{844AC105-DB59-1787-CFA0-364B54FE9E02}"/>
              </a:ext>
            </a:extLst>
          </p:cNvPr>
          <p:cNvSpPr txBox="1"/>
          <p:nvPr/>
        </p:nvSpPr>
        <p:spPr>
          <a:xfrm>
            <a:off x="6579870" y="2519578"/>
            <a:ext cx="5356859" cy="2546210"/>
          </a:xfrm>
          <a:prstGeom prst="rect">
            <a:avLst/>
          </a:prstGeom>
        </p:spPr>
        <p:txBody>
          <a:bodyPr vert="horz" wrap="square" lIns="0" tIns="19685" rIns="0" bIns="0" rtlCol="0">
            <a:spAutoFit/>
          </a:bodyPr>
          <a:lstStyle/>
          <a:p>
            <a:pPr marL="12700" marR="1744980">
              <a:lnSpc>
                <a:spcPct val="106100"/>
              </a:lnSpc>
              <a:spcBef>
                <a:spcPts val="155"/>
              </a:spcBef>
            </a:pPr>
            <a:r>
              <a:rPr lang="en-US" sz="1400" i="1" spc="-4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sz="1400" i="1" spc="-4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lassroom</a:t>
            </a:r>
            <a:r>
              <a:rPr lang="en-US" sz="1400" i="1" spc="-4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spc="-4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sz="1400" i="1" spc="-4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building</a:t>
            </a:r>
            <a:r>
              <a:rPr sz="1400" spc="-4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400" spc="25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i="1" u="sng" spc="-40" dirty="0">
                <a:solidFill>
                  <a:srgbClr val="231F20"/>
                </a:solidFill>
                <a:uFill>
                  <a:solidFill>
                    <a:srgbClr val="221E1F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room</a:t>
            </a:r>
            <a:r>
              <a:rPr sz="1400" i="1" u="sng" spc="65" dirty="0">
                <a:solidFill>
                  <a:srgbClr val="231F20"/>
                </a:solidFill>
                <a:uFill>
                  <a:solidFill>
                    <a:srgbClr val="221E1F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i="1" u="sng" spc="-20" dirty="0">
                <a:solidFill>
                  <a:srgbClr val="231F20"/>
                </a:solidFill>
                <a:uFill>
                  <a:solidFill>
                    <a:srgbClr val="221E1F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number</a:t>
            </a:r>
            <a:r>
              <a:rPr sz="1400" spc="-2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400" spc="25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i="1" spc="-3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capacity</a:t>
            </a:r>
            <a:r>
              <a:rPr sz="1400" spc="-3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  <a:endParaRPr lang="en-US" sz="1400" spc="-30" dirty="0">
              <a:solidFill>
                <a:srgbClr val="231F2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2700" marR="1744980">
              <a:lnSpc>
                <a:spcPct val="106100"/>
              </a:lnSpc>
              <a:spcBef>
                <a:spcPts val="155"/>
              </a:spcBef>
            </a:pPr>
            <a:r>
              <a:rPr sz="1400" i="1" spc="-3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department</a:t>
            </a:r>
            <a:r>
              <a:rPr sz="1400" spc="-3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sz="1400" i="1" u="sng" spc="-30" dirty="0" err="1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dept</a:t>
            </a:r>
            <a:r>
              <a:rPr lang="en-US" sz="1400" i="1" u="sng" spc="-30" dirty="0" err="1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_</a:t>
            </a:r>
            <a:r>
              <a:rPr sz="1400" i="1" u="sng" spc="-10" dirty="0" err="1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name</a:t>
            </a:r>
            <a:r>
              <a:rPr sz="1400" spc="-1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400" spc="-5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i="1" spc="-3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building</a:t>
            </a:r>
            <a:r>
              <a:rPr sz="1400" spc="-3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40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i="1" spc="-1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budget</a:t>
            </a:r>
            <a:r>
              <a:rPr sz="1400" spc="-1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  <a:endParaRPr lang="en-US" sz="1400" spc="-10" dirty="0">
              <a:solidFill>
                <a:srgbClr val="231F2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2700" marR="1744980">
              <a:lnSpc>
                <a:spcPct val="106100"/>
              </a:lnSpc>
              <a:spcBef>
                <a:spcPts val="155"/>
              </a:spcBef>
            </a:pPr>
            <a:r>
              <a:rPr sz="1400" i="1" spc="-45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course</a:t>
            </a:r>
            <a:r>
              <a:rPr sz="1400" spc="-45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sz="1400" i="1" u="sng" spc="-45" dirty="0" err="1">
                <a:solidFill>
                  <a:srgbClr val="231F20"/>
                </a:solidFill>
                <a:uFill>
                  <a:solidFill>
                    <a:srgbClr val="221E1F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course</a:t>
            </a:r>
            <a:r>
              <a:rPr lang="en-US" sz="1400" i="1" u="sng" spc="-10" dirty="0" err="1">
                <a:solidFill>
                  <a:srgbClr val="231F20"/>
                </a:solidFill>
                <a:uFill>
                  <a:solidFill>
                    <a:srgbClr val="221E1F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_</a:t>
            </a:r>
            <a:r>
              <a:rPr sz="1400" i="1" u="sng" dirty="0" err="1">
                <a:solidFill>
                  <a:srgbClr val="231F20"/>
                </a:solidFill>
                <a:uFill>
                  <a:solidFill>
                    <a:srgbClr val="221E1F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</a:t>
            </a:r>
            <a:r>
              <a:rPr sz="140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400" spc="-4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i="1" spc="-25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title</a:t>
            </a:r>
            <a:r>
              <a:rPr sz="1400" spc="-25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400" spc="-4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i="1" spc="-25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dept </a:t>
            </a:r>
            <a:r>
              <a:rPr sz="1400" i="1" spc="-1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name</a:t>
            </a:r>
            <a:r>
              <a:rPr sz="1400" spc="-1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400" spc="-45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i="1" spc="-1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credits</a:t>
            </a:r>
            <a:r>
              <a:rPr sz="1400" spc="-1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  <a:endParaRPr lang="en-US" sz="1400" spc="-10" dirty="0">
              <a:solidFill>
                <a:srgbClr val="231F2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2700" marR="1744980">
              <a:lnSpc>
                <a:spcPct val="106100"/>
              </a:lnSpc>
              <a:spcBef>
                <a:spcPts val="155"/>
              </a:spcBef>
            </a:pPr>
            <a:r>
              <a:rPr lang="en-US" sz="1400" i="1" spc="-35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sz="1400" i="1" spc="-35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nstructor</a:t>
            </a:r>
            <a:r>
              <a:rPr sz="1400" spc="-35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sz="1100" i="1" u="sng" spc="-35" dirty="0">
                <a:solidFill>
                  <a:srgbClr val="231F20"/>
                </a:solidFill>
                <a:uFill>
                  <a:solidFill>
                    <a:srgbClr val="221E1F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</a:t>
            </a:r>
            <a:r>
              <a:rPr sz="1400" spc="-35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400" spc="-3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i="1" spc="-1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name</a:t>
            </a:r>
            <a:r>
              <a:rPr sz="1400" spc="-1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400" spc="-3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i="1" spc="-25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dept</a:t>
            </a:r>
            <a:r>
              <a:rPr sz="1400" i="1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i="1" spc="-1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name</a:t>
            </a:r>
            <a:r>
              <a:rPr sz="1400" spc="-1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400" spc="-3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i="1" spc="-1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salary</a:t>
            </a:r>
            <a:r>
              <a:rPr sz="1400" spc="-1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endParaRPr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2700">
              <a:lnSpc>
                <a:spcPts val="1295"/>
              </a:lnSpc>
            </a:pPr>
            <a:r>
              <a:rPr sz="1400" i="1" spc="-4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section</a:t>
            </a:r>
            <a:r>
              <a:rPr sz="1400" spc="-4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sz="1400" i="1" u="sng" spc="-40" dirty="0">
                <a:solidFill>
                  <a:srgbClr val="231F20"/>
                </a:solidFill>
                <a:uFill>
                  <a:solidFill>
                    <a:srgbClr val="221E1F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course</a:t>
            </a:r>
            <a:r>
              <a:rPr sz="1400" i="1" u="sng" dirty="0">
                <a:solidFill>
                  <a:srgbClr val="231F20"/>
                </a:solidFill>
                <a:uFill>
                  <a:solidFill>
                    <a:srgbClr val="221E1F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id</a:t>
            </a:r>
            <a:r>
              <a:rPr sz="140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400" spc="-35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i="1" u="sng" spc="-45" dirty="0">
                <a:solidFill>
                  <a:srgbClr val="231F20"/>
                </a:solidFill>
                <a:uFill>
                  <a:solidFill>
                    <a:srgbClr val="221E1F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</a:t>
            </a:r>
            <a:r>
              <a:rPr sz="1400" i="1" u="sng" spc="-5" dirty="0">
                <a:solidFill>
                  <a:srgbClr val="231F20"/>
                </a:solidFill>
                <a:uFill>
                  <a:solidFill>
                    <a:srgbClr val="221E1F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i="1" u="sng" dirty="0">
                <a:solidFill>
                  <a:srgbClr val="231F20"/>
                </a:solidFill>
                <a:uFill>
                  <a:solidFill>
                    <a:srgbClr val="221E1F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</a:t>
            </a:r>
            <a:r>
              <a:rPr sz="140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400" spc="-35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i="1" u="sng" spc="-35" dirty="0">
                <a:solidFill>
                  <a:srgbClr val="231F20"/>
                </a:solidFill>
                <a:uFill>
                  <a:solidFill>
                    <a:srgbClr val="221E1F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semester</a:t>
            </a:r>
            <a:r>
              <a:rPr sz="1400" spc="-35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sz="1400" i="1" spc="-3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year</a:t>
            </a:r>
            <a:r>
              <a:rPr sz="1400" spc="-3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400" spc="-35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i="1" spc="-3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building</a:t>
            </a:r>
            <a:r>
              <a:rPr sz="1400" spc="-3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sz="1400" i="1" spc="-4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room</a:t>
            </a:r>
            <a:r>
              <a:rPr sz="1400" i="1" spc="-5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i="1" spc="-2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number</a:t>
            </a:r>
            <a:r>
              <a:rPr sz="1400" spc="-2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400" spc="-3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i="1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time</a:t>
            </a:r>
            <a:r>
              <a:rPr sz="1400" i="1" spc="-1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i="1" spc="-25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slot</a:t>
            </a:r>
            <a:r>
              <a:rPr sz="1400" i="1" spc="-5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i="1" spc="-25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</a:t>
            </a:r>
            <a:r>
              <a:rPr sz="1400" spc="-25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endParaRPr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2700" marR="1750695">
              <a:lnSpc>
                <a:spcPct val="110000"/>
              </a:lnSpc>
            </a:pPr>
            <a:r>
              <a:rPr sz="1400" i="1" spc="-35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teaches</a:t>
            </a:r>
            <a:r>
              <a:rPr sz="1400" spc="-35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sz="1100" i="1" u="sng" spc="-35" dirty="0">
                <a:solidFill>
                  <a:srgbClr val="231F20"/>
                </a:solidFill>
                <a:uFill>
                  <a:solidFill>
                    <a:srgbClr val="221E1F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</a:t>
            </a:r>
            <a:r>
              <a:rPr sz="1400" spc="-35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400" spc="-25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i="1" u="sng" spc="-50" dirty="0">
                <a:solidFill>
                  <a:srgbClr val="231F20"/>
                </a:solidFill>
                <a:uFill>
                  <a:solidFill>
                    <a:srgbClr val="221E1F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course</a:t>
            </a:r>
            <a:r>
              <a:rPr sz="1400" i="1" u="sng" spc="10" dirty="0">
                <a:solidFill>
                  <a:srgbClr val="231F20"/>
                </a:solidFill>
                <a:uFill>
                  <a:solidFill>
                    <a:srgbClr val="221E1F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i="1" u="sng" dirty="0">
                <a:solidFill>
                  <a:srgbClr val="231F20"/>
                </a:solidFill>
                <a:uFill>
                  <a:solidFill>
                    <a:srgbClr val="221E1F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</a:t>
            </a:r>
            <a:r>
              <a:rPr sz="140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400" spc="-2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i="1" u="sng" spc="-45" dirty="0">
                <a:solidFill>
                  <a:srgbClr val="231F20"/>
                </a:solidFill>
                <a:uFill>
                  <a:solidFill>
                    <a:srgbClr val="221E1F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</a:t>
            </a:r>
            <a:r>
              <a:rPr sz="1400" i="1" u="sng" spc="5" dirty="0">
                <a:solidFill>
                  <a:srgbClr val="231F20"/>
                </a:solidFill>
                <a:uFill>
                  <a:solidFill>
                    <a:srgbClr val="221E1F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i="1" u="sng" dirty="0">
                <a:solidFill>
                  <a:srgbClr val="231F20"/>
                </a:solidFill>
                <a:uFill>
                  <a:solidFill>
                    <a:srgbClr val="221E1F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</a:t>
            </a:r>
            <a:r>
              <a:rPr sz="140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400" spc="-25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i="1" u="sng" spc="-35" dirty="0">
                <a:solidFill>
                  <a:srgbClr val="231F20"/>
                </a:solidFill>
                <a:uFill>
                  <a:solidFill>
                    <a:srgbClr val="221E1F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semester</a:t>
            </a:r>
            <a:r>
              <a:rPr sz="1400" spc="-35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400" spc="-2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i="1" spc="-2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year</a:t>
            </a:r>
            <a:r>
              <a:rPr sz="1400" spc="-2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  <a:endParaRPr lang="en-US" sz="1400" spc="-20" dirty="0">
              <a:solidFill>
                <a:srgbClr val="231F20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2700" marR="1750695">
              <a:lnSpc>
                <a:spcPct val="110000"/>
              </a:lnSpc>
            </a:pPr>
            <a:r>
              <a:rPr sz="1400" i="1" spc="-2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student</a:t>
            </a:r>
            <a:r>
              <a:rPr sz="1400" spc="-2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sz="1100" i="1" u="sng" spc="-20" dirty="0">
                <a:solidFill>
                  <a:srgbClr val="231F20"/>
                </a:solidFill>
                <a:uFill>
                  <a:solidFill>
                    <a:srgbClr val="221E1F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</a:t>
            </a:r>
            <a:r>
              <a:rPr sz="1400" spc="-2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400" spc="-5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i="1" spc="-1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name</a:t>
            </a:r>
            <a:r>
              <a:rPr sz="1400" spc="-1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400" spc="-5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i="1" spc="-25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dept </a:t>
            </a:r>
            <a:r>
              <a:rPr sz="1400" i="1" spc="-1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name</a:t>
            </a:r>
            <a:r>
              <a:rPr sz="1400" spc="-1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400" spc="-5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i="1" spc="-1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tot</a:t>
            </a:r>
            <a:r>
              <a:rPr sz="1400" i="1" spc="-25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i="1" spc="-2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cred</a:t>
            </a:r>
            <a:r>
              <a:rPr sz="1400" spc="-2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endParaRPr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2700">
              <a:lnSpc>
                <a:spcPts val="1290"/>
              </a:lnSpc>
            </a:pPr>
            <a:r>
              <a:rPr sz="1400" i="1" spc="-2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takes</a:t>
            </a:r>
            <a:r>
              <a:rPr sz="1400" spc="-2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sz="1100" i="1" u="sng" spc="-20" dirty="0">
                <a:solidFill>
                  <a:srgbClr val="231F20"/>
                </a:solidFill>
                <a:uFill>
                  <a:solidFill>
                    <a:srgbClr val="221E1F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</a:t>
            </a:r>
            <a:r>
              <a:rPr sz="1400" spc="-2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400" spc="-3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i="1" u="sng" spc="-50" dirty="0">
                <a:solidFill>
                  <a:srgbClr val="231F20"/>
                </a:solidFill>
                <a:uFill>
                  <a:solidFill>
                    <a:srgbClr val="221E1F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course</a:t>
            </a:r>
            <a:r>
              <a:rPr sz="1400" i="1" u="sng" spc="10" dirty="0">
                <a:solidFill>
                  <a:srgbClr val="231F20"/>
                </a:solidFill>
                <a:uFill>
                  <a:solidFill>
                    <a:srgbClr val="221E1F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i="1" u="sng" dirty="0">
                <a:solidFill>
                  <a:srgbClr val="231F20"/>
                </a:solidFill>
                <a:uFill>
                  <a:solidFill>
                    <a:srgbClr val="221E1F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</a:t>
            </a:r>
            <a:r>
              <a:rPr sz="140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400" spc="-3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i="1" u="sng" spc="-45" dirty="0">
                <a:solidFill>
                  <a:srgbClr val="231F20"/>
                </a:solidFill>
                <a:uFill>
                  <a:solidFill>
                    <a:srgbClr val="221E1F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sec</a:t>
            </a:r>
            <a:r>
              <a:rPr sz="1400" i="1" u="sng" spc="5" dirty="0">
                <a:solidFill>
                  <a:srgbClr val="231F20"/>
                </a:solidFill>
                <a:uFill>
                  <a:solidFill>
                    <a:srgbClr val="221E1F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i="1" u="sng" dirty="0">
                <a:solidFill>
                  <a:srgbClr val="231F20"/>
                </a:solidFill>
                <a:uFill>
                  <a:solidFill>
                    <a:srgbClr val="221E1F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</a:t>
            </a:r>
            <a:r>
              <a:rPr sz="140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400" spc="-25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i="1" u="sng" spc="-35" dirty="0">
                <a:solidFill>
                  <a:srgbClr val="231F20"/>
                </a:solidFill>
                <a:uFill>
                  <a:solidFill>
                    <a:srgbClr val="221E1F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semester</a:t>
            </a:r>
            <a:r>
              <a:rPr sz="1400" spc="-35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400" spc="-25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i="1" spc="-3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year</a:t>
            </a:r>
            <a:r>
              <a:rPr sz="1400" spc="-3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 </a:t>
            </a:r>
            <a:r>
              <a:rPr sz="1400" i="1" spc="-1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grade</a:t>
            </a:r>
            <a:r>
              <a:rPr sz="1400" spc="-1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endParaRPr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2700">
              <a:lnSpc>
                <a:spcPts val="1310"/>
              </a:lnSpc>
              <a:spcBef>
                <a:spcPts val="135"/>
              </a:spcBef>
            </a:pPr>
            <a:r>
              <a:rPr sz="1400" i="1" spc="-3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advisor</a:t>
            </a:r>
            <a:r>
              <a:rPr sz="1400" spc="-3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sz="1400" i="1" u="sng" spc="-30" dirty="0">
                <a:solidFill>
                  <a:srgbClr val="231F20"/>
                </a:solidFill>
                <a:uFill>
                  <a:solidFill>
                    <a:srgbClr val="221E1F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sz="1400" i="1" u="sng" spc="75" dirty="0">
                <a:solidFill>
                  <a:srgbClr val="231F20"/>
                </a:solidFill>
                <a:uFill>
                  <a:solidFill>
                    <a:srgbClr val="221E1F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100" i="1" u="sng" spc="-20" dirty="0">
                <a:solidFill>
                  <a:srgbClr val="231F20"/>
                </a:solidFill>
                <a:uFill>
                  <a:solidFill>
                    <a:srgbClr val="221E1F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</a:t>
            </a:r>
            <a:r>
              <a:rPr sz="1400" spc="-2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400" spc="-4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i="1" dirty="0" err="1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</a:t>
            </a:r>
            <a:r>
              <a:rPr lang="en-US" sz="1400" i="1" spc="80" dirty="0" err="1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_</a:t>
            </a:r>
            <a:r>
              <a:rPr sz="1100" i="1" spc="-25" dirty="0" err="1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</a:t>
            </a:r>
            <a:r>
              <a:rPr sz="1400" spc="-25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endParaRPr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2700">
              <a:lnSpc>
                <a:spcPts val="1310"/>
              </a:lnSpc>
            </a:pPr>
            <a:r>
              <a:rPr sz="1400" i="1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time</a:t>
            </a:r>
            <a:r>
              <a:rPr sz="1400" i="1" spc="-3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i="1" spc="-2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slot</a:t>
            </a:r>
            <a:r>
              <a:rPr sz="1400" spc="-2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sz="1400" i="1" u="sng" spc="-20" dirty="0">
                <a:solidFill>
                  <a:srgbClr val="231F20"/>
                </a:solidFill>
                <a:uFill>
                  <a:solidFill>
                    <a:srgbClr val="221E1F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time </a:t>
            </a:r>
            <a:r>
              <a:rPr sz="1400" i="1" u="sng" spc="-25" dirty="0">
                <a:solidFill>
                  <a:srgbClr val="231F20"/>
                </a:solidFill>
                <a:uFill>
                  <a:solidFill>
                    <a:srgbClr val="221E1F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slot </a:t>
            </a:r>
            <a:r>
              <a:rPr sz="1400" i="1" u="sng" dirty="0">
                <a:solidFill>
                  <a:srgbClr val="231F20"/>
                </a:solidFill>
                <a:uFill>
                  <a:solidFill>
                    <a:srgbClr val="221E1F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</a:t>
            </a:r>
            <a:r>
              <a:rPr sz="140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400" spc="-55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i="1" spc="-2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day</a:t>
            </a:r>
            <a:r>
              <a:rPr sz="1400" spc="-2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400" spc="-5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i="1" u="sng" spc="-25" dirty="0">
                <a:solidFill>
                  <a:srgbClr val="231F20"/>
                </a:solidFill>
                <a:uFill>
                  <a:solidFill>
                    <a:srgbClr val="221E1F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start</a:t>
            </a:r>
            <a:r>
              <a:rPr sz="1400" i="1" u="sng" spc="-30" dirty="0">
                <a:solidFill>
                  <a:srgbClr val="231F20"/>
                </a:solidFill>
                <a:uFill>
                  <a:solidFill>
                    <a:srgbClr val="221E1F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i="1" u="sng" spc="-20" dirty="0">
                <a:solidFill>
                  <a:srgbClr val="231F20"/>
                </a:solidFill>
                <a:uFill>
                  <a:solidFill>
                    <a:srgbClr val="221E1F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time</a:t>
            </a:r>
            <a:r>
              <a:rPr sz="1400" spc="-2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400" spc="-45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i="1" spc="-1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end</a:t>
            </a:r>
            <a:r>
              <a:rPr sz="1400" i="1" spc="-3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i="1" spc="-1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time</a:t>
            </a:r>
            <a:r>
              <a:rPr sz="1400" spc="-1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endParaRPr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i="1" spc="-5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prereq</a:t>
            </a:r>
            <a:r>
              <a:rPr sz="1400" spc="-5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sz="1400" i="1" u="sng" spc="-50" dirty="0">
                <a:solidFill>
                  <a:srgbClr val="231F20"/>
                </a:solidFill>
                <a:uFill>
                  <a:solidFill>
                    <a:srgbClr val="221E1F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course</a:t>
            </a:r>
            <a:r>
              <a:rPr sz="1400" i="1" u="sng" spc="25" dirty="0">
                <a:solidFill>
                  <a:srgbClr val="231F20"/>
                </a:solidFill>
                <a:uFill>
                  <a:solidFill>
                    <a:srgbClr val="221E1F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i="1" u="sng" dirty="0">
                <a:solidFill>
                  <a:srgbClr val="231F20"/>
                </a:solidFill>
                <a:uFill>
                  <a:solidFill>
                    <a:srgbClr val="221E1F"/>
                  </a:solidFill>
                </a:u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</a:t>
            </a:r>
            <a:r>
              <a:rPr sz="140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sz="1400" spc="-15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i="1" spc="-65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prereq</a:t>
            </a:r>
            <a:r>
              <a:rPr sz="1400" i="1" spc="10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sz="1400" i="1" spc="-25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id</a:t>
            </a:r>
            <a:r>
              <a:rPr sz="1400" spc="-25" dirty="0">
                <a:solidFill>
                  <a:srgbClr val="231F2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endParaRPr sz="14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R="59690" algn="ctr">
              <a:lnSpc>
                <a:spcPct val="100000"/>
              </a:lnSpc>
            </a:pPr>
            <a:r>
              <a:rPr sz="1000" spc="-20" dirty="0">
                <a:solidFill>
                  <a:srgbClr val="231F20"/>
                </a:solidFill>
                <a:latin typeface="Lucida Sans"/>
                <a:cs typeface="Lucida Sans"/>
              </a:rPr>
              <a:t>Schema</a:t>
            </a:r>
            <a:r>
              <a:rPr sz="1000" spc="-25" dirty="0">
                <a:solidFill>
                  <a:srgbClr val="231F20"/>
                </a:solidFill>
                <a:latin typeface="Lucida Sans"/>
                <a:cs typeface="Lucida Sans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Lucida Sans"/>
                <a:cs typeface="Lucida Sans"/>
              </a:rPr>
              <a:t>of</a:t>
            </a:r>
            <a:r>
              <a:rPr sz="1000" spc="-30" dirty="0">
                <a:solidFill>
                  <a:srgbClr val="231F20"/>
                </a:solidFill>
                <a:latin typeface="Lucida Sans"/>
                <a:cs typeface="Lucida Sans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Lucida Sans"/>
                <a:cs typeface="Lucida Sans"/>
              </a:rPr>
              <a:t>the</a:t>
            </a:r>
            <a:r>
              <a:rPr sz="1000" spc="-25" dirty="0">
                <a:solidFill>
                  <a:srgbClr val="231F20"/>
                </a:solidFill>
                <a:latin typeface="Lucida Sans"/>
                <a:cs typeface="Lucida Sans"/>
              </a:rPr>
              <a:t> </a:t>
            </a:r>
            <a:r>
              <a:rPr sz="1000" spc="-45" dirty="0">
                <a:solidFill>
                  <a:srgbClr val="231F20"/>
                </a:solidFill>
                <a:latin typeface="Lucida Sans"/>
                <a:cs typeface="Lucida Sans"/>
              </a:rPr>
              <a:t>university</a:t>
            </a:r>
            <a:r>
              <a:rPr sz="1000" spc="-30" dirty="0">
                <a:solidFill>
                  <a:srgbClr val="231F20"/>
                </a:solidFill>
                <a:latin typeface="Lucida Sans"/>
                <a:cs typeface="Lucida Sans"/>
              </a:rPr>
              <a:t> </a:t>
            </a:r>
            <a:r>
              <a:rPr sz="1000" spc="-10" dirty="0">
                <a:solidFill>
                  <a:srgbClr val="231F20"/>
                </a:solidFill>
                <a:latin typeface="Lucida Sans"/>
                <a:cs typeface="Lucida Sans"/>
              </a:rPr>
              <a:t>database.</a:t>
            </a:r>
            <a:endParaRPr sz="1000" dirty="0">
              <a:latin typeface="Lucida Sans"/>
              <a:cs typeface="Lucida Sans"/>
            </a:endParaRPr>
          </a:p>
        </p:txBody>
      </p:sp>
    </p:spTree>
    <p:extLst>
      <p:ext uri="{BB962C8B-B14F-4D97-AF65-F5344CB8AC3E}">
        <p14:creationId xmlns:p14="http://schemas.microsoft.com/office/powerpoint/2010/main" val="20477900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C546D4-527D-DE54-0066-BF5D73B8D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16BF5D8-C105-66CA-CE93-0F27C3C3F02C}"/>
              </a:ext>
            </a:extLst>
          </p:cNvPr>
          <p:cNvSpPr/>
          <p:nvPr/>
        </p:nvSpPr>
        <p:spPr>
          <a:xfrm>
            <a:off x="0" y="0"/>
            <a:ext cx="12192000" cy="843280"/>
          </a:xfrm>
          <a:prstGeom prst="rect">
            <a:avLst/>
          </a:prstGeom>
          <a:gradFill>
            <a:gsLst>
              <a:gs pos="0">
                <a:srgbClr val="008EF8"/>
              </a:gs>
              <a:gs pos="100000">
                <a:srgbClr val="5FBBFF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rtlCol="0" anchor="ctr"/>
          <a:lstStyle/>
          <a:p>
            <a:r>
              <a:rPr lang="en-US" sz="40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Basic Data types</a:t>
            </a:r>
          </a:p>
        </p:txBody>
      </p:sp>
      <p:graphicFrame>
        <p:nvGraphicFramePr>
          <p:cNvPr id="42" name="Table 41">
            <a:extLst>
              <a:ext uri="{FF2B5EF4-FFF2-40B4-BE49-F238E27FC236}">
                <a16:creationId xmlns:a16="http://schemas.microsoft.com/office/drawing/2014/main" id="{CFEAD336-6BE8-86F8-C288-B941465962D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7746465"/>
              </p:ext>
            </p:extLst>
          </p:nvPr>
        </p:nvGraphicFramePr>
        <p:xfrm>
          <a:off x="345633" y="843280"/>
          <a:ext cx="11500734" cy="6183626"/>
        </p:xfrm>
        <a:graphic>
          <a:graphicData uri="http://schemas.openxmlformats.org/drawingml/2006/table">
            <a:tbl>
              <a:tblPr/>
              <a:tblGrid>
                <a:gridCol w="2013995">
                  <a:extLst>
                    <a:ext uri="{9D8B030D-6E8A-4147-A177-3AD203B41FA5}">
                      <a16:colId xmlns:a16="http://schemas.microsoft.com/office/drawing/2014/main" val="3029395012"/>
                    </a:ext>
                  </a:extLst>
                </a:gridCol>
                <a:gridCol w="1873213">
                  <a:extLst>
                    <a:ext uri="{9D8B030D-6E8A-4147-A177-3AD203B41FA5}">
                      <a16:colId xmlns:a16="http://schemas.microsoft.com/office/drawing/2014/main" val="2828864229"/>
                    </a:ext>
                  </a:extLst>
                </a:gridCol>
                <a:gridCol w="5928123">
                  <a:extLst>
                    <a:ext uri="{9D8B030D-6E8A-4147-A177-3AD203B41FA5}">
                      <a16:colId xmlns:a16="http://schemas.microsoft.com/office/drawing/2014/main" val="1948577887"/>
                    </a:ext>
                  </a:extLst>
                </a:gridCol>
                <a:gridCol w="1685403">
                  <a:extLst>
                    <a:ext uri="{9D8B030D-6E8A-4147-A177-3AD203B41FA5}">
                      <a16:colId xmlns:a16="http://schemas.microsoft.com/office/drawing/2014/main" val="183129407"/>
                    </a:ext>
                  </a:extLst>
                </a:gridCol>
              </a:tblGrid>
              <a:tr h="164201">
                <a:tc>
                  <a:txBody>
                    <a:bodyPr/>
                    <a:lstStyle/>
                    <a:p>
                      <a:r>
                        <a:rPr lang="en-US" sz="1600" b="1" dirty="0"/>
                        <a:t>Category</a:t>
                      </a:r>
                      <a:endParaRPr lang="en-US" sz="1600" dirty="0"/>
                    </a:p>
                  </a:txBody>
                  <a:tcPr marL="41050" marR="41050" marT="20525" marB="20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/>
                        <a:t>Data Type</a:t>
                      </a:r>
                      <a:endParaRPr lang="en-US" sz="1600"/>
                    </a:p>
                  </a:txBody>
                  <a:tcPr marL="41050" marR="41050" marT="20525" marB="20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Description</a:t>
                      </a:r>
                      <a:endParaRPr lang="en-US" sz="1600" dirty="0"/>
                    </a:p>
                  </a:txBody>
                  <a:tcPr marL="41050" marR="41050" marT="20525" marB="20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b="1" dirty="0"/>
                        <a:t>Example</a:t>
                      </a:r>
                      <a:endParaRPr lang="en-US" sz="1600" dirty="0"/>
                    </a:p>
                  </a:txBody>
                  <a:tcPr marL="38170" marR="38170" marT="19085" marB="190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152767"/>
                  </a:ext>
                </a:extLst>
              </a:tr>
              <a:tr h="287353">
                <a:tc>
                  <a:txBody>
                    <a:bodyPr/>
                    <a:lstStyle/>
                    <a:p>
                      <a:r>
                        <a:rPr lang="en-US" sz="1600" b="1" dirty="0"/>
                        <a:t>Character Types</a:t>
                      </a:r>
                      <a:endParaRPr lang="en-US" sz="1600" dirty="0"/>
                    </a:p>
                  </a:txBody>
                  <a:tcPr marL="41050" marR="41050" marT="20525" marB="20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CHAR(n)</a:t>
                      </a:r>
                    </a:p>
                  </a:txBody>
                  <a:tcPr marL="41050" marR="41050" marT="20525" marB="20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Fixed-length character string with length n. Full form: CHARACTER.</a:t>
                      </a:r>
                    </a:p>
                  </a:txBody>
                  <a:tcPr marL="41050" marR="41050" marT="20525" marB="20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'Hello'</a:t>
                      </a:r>
                    </a:p>
                  </a:txBody>
                  <a:tcPr marL="38170" marR="38170" marT="19085" marB="190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01474519"/>
                  </a:ext>
                </a:extLst>
              </a:tr>
              <a:tr h="410504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41050" marR="41050" marT="20525" marB="20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VARCHAR(n)</a:t>
                      </a:r>
                    </a:p>
                  </a:txBody>
                  <a:tcPr marL="41050" marR="41050" marT="20525" marB="20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Variable-length character string with max length n. Full form: CHARACTER VARYING. the n defines the string length in byte-pairs</a:t>
                      </a:r>
                    </a:p>
                  </a:txBody>
                  <a:tcPr marL="41050" marR="41050" marT="20525" marB="20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'SQL Server'</a:t>
                      </a:r>
                    </a:p>
                  </a:txBody>
                  <a:tcPr marL="38170" marR="38170" marT="19085" marB="190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2964369"/>
                  </a:ext>
                </a:extLst>
              </a:tr>
              <a:tr h="410504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41050" marR="41050" marT="20525" marB="20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NCHAR(5)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Fixed-length Unicode character string.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N'</a:t>
                      </a:r>
                      <a:r>
                        <a:rPr lang="ar-EG" sz="1600" dirty="0"/>
                        <a:t>مرحبا'</a:t>
                      </a:r>
                    </a:p>
                  </a:txBody>
                  <a:tcPr marL="38170" marR="38170" marT="19085" marB="190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3771114"/>
                  </a:ext>
                </a:extLst>
              </a:tr>
              <a:tr h="410504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41050" marR="41050" marT="20525" marB="20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NVARCHAR(10)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Variable-length Unicode character string.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N'</a:t>
                      </a:r>
                      <a:r>
                        <a:rPr lang="ja-JP" altLang="en-US" sz="1600" dirty="0"/>
                        <a:t>こんにちは</a:t>
                      </a:r>
                      <a:r>
                        <a:rPr lang="en-US" altLang="ja-JP" sz="1600" dirty="0"/>
                        <a:t>'</a:t>
                      </a:r>
                    </a:p>
                  </a:txBody>
                  <a:tcPr marL="38170" marR="38170" marT="19085" marB="190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3165378"/>
                  </a:ext>
                </a:extLst>
              </a:tr>
              <a:tr h="410504">
                <a:tc>
                  <a:txBody>
                    <a:bodyPr/>
                    <a:lstStyle/>
                    <a:p>
                      <a:r>
                        <a:rPr lang="en-US" sz="1600" b="1" dirty="0"/>
                        <a:t>Integer Types</a:t>
                      </a:r>
                      <a:endParaRPr lang="en-US" sz="1600" dirty="0"/>
                    </a:p>
                  </a:txBody>
                  <a:tcPr marL="41050" marR="41050" marT="20525" marB="20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INT</a:t>
                      </a:r>
                    </a:p>
                  </a:txBody>
                  <a:tcPr marL="41050" marR="41050" marT="20525" marB="20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Standard integer (machine-dependent range). Full form: INTEGER.</a:t>
                      </a:r>
                    </a:p>
                  </a:txBody>
                  <a:tcPr marL="41050" marR="41050" marT="20525" marB="20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100000</a:t>
                      </a:r>
                    </a:p>
                  </a:txBody>
                  <a:tcPr marL="38170" marR="38170" marT="19085" marB="190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05711134"/>
                  </a:ext>
                </a:extLst>
              </a:tr>
              <a:tr h="287353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41050" marR="41050" marT="20525" marB="20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SMALLINT</a:t>
                      </a:r>
                    </a:p>
                  </a:txBody>
                  <a:tcPr marL="41050" marR="41050" marT="20525" marB="20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/>
                        <a:t>Small integer (machine-dependent range).</a:t>
                      </a:r>
                    </a:p>
                  </a:txBody>
                  <a:tcPr marL="41050" marR="41050" marT="20525" marB="20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32000</a:t>
                      </a:r>
                    </a:p>
                  </a:txBody>
                  <a:tcPr marL="38170" marR="38170" marT="19085" marB="190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09058197"/>
                  </a:ext>
                </a:extLst>
              </a:tr>
              <a:tr h="533655">
                <a:tc>
                  <a:txBody>
                    <a:bodyPr/>
                    <a:lstStyle/>
                    <a:p>
                      <a:r>
                        <a:rPr lang="en-US" sz="1600" b="1"/>
                        <a:t>Decimal &amp; Numeric</a:t>
                      </a:r>
                      <a:endParaRPr lang="en-US" sz="1600"/>
                    </a:p>
                  </a:txBody>
                  <a:tcPr marL="41050" marR="41050" marT="20525" marB="20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NUMERIC(p, d)</a:t>
                      </a:r>
                    </a:p>
                  </a:txBody>
                  <a:tcPr marL="41050" marR="41050" marT="20525" marB="20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Fixed-point number with p total digits, d of which are decimal places. Example: NUMERIC(3,1) stores 44.5, but not 444.5.</a:t>
                      </a:r>
                    </a:p>
                  </a:txBody>
                  <a:tcPr marL="41050" marR="41050" marT="20525" marB="20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123.45</a:t>
                      </a:r>
                    </a:p>
                  </a:txBody>
                  <a:tcPr marL="38170" marR="38170" marT="19085" marB="190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63855497"/>
                  </a:ext>
                </a:extLst>
              </a:tr>
              <a:tr h="164201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41050" marR="41050" marT="20525" marB="20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DECIMAL(p, d)</a:t>
                      </a:r>
                    </a:p>
                  </a:txBody>
                  <a:tcPr marL="41050" marR="41050" marT="20525" marB="20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Same as NUMERIC.</a:t>
                      </a:r>
                    </a:p>
                  </a:txBody>
                  <a:tcPr marL="41050" marR="41050" marT="20525" marB="20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99.9</a:t>
                      </a:r>
                    </a:p>
                  </a:txBody>
                  <a:tcPr marL="38170" marR="38170" marT="19085" marB="190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8845526"/>
                  </a:ext>
                </a:extLst>
              </a:tr>
              <a:tr h="287353">
                <a:tc>
                  <a:txBody>
                    <a:bodyPr/>
                    <a:lstStyle/>
                    <a:p>
                      <a:r>
                        <a:rPr lang="en-US" sz="1600" b="1"/>
                        <a:t>Floating-Point</a:t>
                      </a:r>
                      <a:endParaRPr lang="en-US" sz="1600"/>
                    </a:p>
                  </a:txBody>
                  <a:tcPr marL="41050" marR="41050" marT="20525" marB="20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REAL</a:t>
                      </a:r>
                    </a:p>
                  </a:txBody>
                  <a:tcPr marL="41050" marR="41050" marT="20525" marB="20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Floating-point number with machine-dependent precision. (4bytes)</a:t>
                      </a:r>
                    </a:p>
                  </a:txBody>
                  <a:tcPr marL="41050" marR="41050" marT="20525" marB="20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3.14</a:t>
                      </a:r>
                    </a:p>
                  </a:txBody>
                  <a:tcPr marL="38170" marR="38170" marT="19085" marB="190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7408870"/>
                  </a:ext>
                </a:extLst>
              </a:tr>
              <a:tr h="287353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41050" marR="41050" marT="20525" marB="20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FLOAT(n)</a:t>
                      </a:r>
                    </a:p>
                    <a:p>
                      <a:endParaRPr lang="en-US" sz="1600" dirty="0"/>
                    </a:p>
                  </a:txBody>
                  <a:tcPr marL="41050" marR="41050" marT="20525" marB="20525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n is the number of bits that are used to store the mantissa of the float number in scientific notation </a:t>
                      </a:r>
                      <a:r>
                        <a:rPr lang="en-US" sz="1800" b="0" i="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and, therefore, dictates the precision and storage size.</a:t>
                      </a:r>
                      <a:endParaRPr lang="en-US" sz="1600" dirty="0"/>
                    </a:p>
                  </a:txBody>
                  <a:tcPr marL="41050" marR="41050" marT="20525" marB="20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38170" marR="38170" marT="19085" marB="190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003273"/>
                  </a:ext>
                </a:extLst>
              </a:tr>
              <a:tr h="287353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41050" marR="41050" marT="20525" marB="20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41050" marR="41050" marT="20525" marB="20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41050" marR="41050" marT="20525" marB="20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2.7182818284</a:t>
                      </a:r>
                    </a:p>
                  </a:txBody>
                  <a:tcPr marL="38170" marR="38170" marT="19085" marB="190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163037"/>
                  </a:ext>
                </a:extLst>
              </a:tr>
              <a:tr h="164201">
                <a:tc>
                  <a:txBody>
                    <a:bodyPr/>
                    <a:lstStyle/>
                    <a:p>
                      <a:r>
                        <a:rPr lang="en-US" sz="1600" b="1"/>
                        <a:t>Date &amp; Time</a:t>
                      </a:r>
                      <a:endParaRPr lang="en-US" sz="1600"/>
                    </a:p>
                  </a:txBody>
                  <a:tcPr marL="41050" marR="41050" marT="20525" marB="20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DATE</a:t>
                      </a:r>
                    </a:p>
                  </a:txBody>
                  <a:tcPr marL="41050" marR="41050" marT="20525" marB="20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Stores only date (YYYY-MM-DD).</a:t>
                      </a:r>
                    </a:p>
                  </a:txBody>
                  <a:tcPr marL="41050" marR="41050" marT="20525" marB="20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'2025-03-03'</a:t>
                      </a:r>
                    </a:p>
                  </a:txBody>
                  <a:tcPr marL="38170" marR="38170" marT="19085" marB="190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17671325"/>
                  </a:ext>
                </a:extLst>
              </a:tr>
              <a:tr h="164201">
                <a:tc>
                  <a:txBody>
                    <a:bodyPr/>
                    <a:lstStyle/>
                    <a:p>
                      <a:endParaRPr lang="en-US" sz="1600"/>
                    </a:p>
                  </a:txBody>
                  <a:tcPr marL="41050" marR="41050" marT="20525" marB="20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TIME</a:t>
                      </a:r>
                    </a:p>
                  </a:txBody>
                  <a:tcPr marL="41050" marR="41050" marT="20525" marB="20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Stores only time (</a:t>
                      </a:r>
                      <a:r>
                        <a:rPr lang="en-US" sz="1600" dirty="0" err="1"/>
                        <a:t>hh:mm:ss</a:t>
                      </a:r>
                      <a:r>
                        <a:rPr lang="en-US" sz="1600" dirty="0"/>
                        <a:t>).</a:t>
                      </a:r>
                    </a:p>
                  </a:txBody>
                  <a:tcPr marL="41050" marR="41050" marT="20525" marB="20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'14:30:00'</a:t>
                      </a:r>
                    </a:p>
                  </a:txBody>
                  <a:tcPr marL="38170" marR="38170" marT="19085" marB="190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7170054"/>
                  </a:ext>
                </a:extLst>
              </a:tr>
              <a:tr h="287353"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 marL="41050" marR="41050" marT="20525" marB="20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DATETIME</a:t>
                      </a:r>
                    </a:p>
                  </a:txBody>
                  <a:tcPr marL="41050" marR="41050" marT="20525" marB="20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Stores both date and time (YYYY-MM-DD </a:t>
                      </a:r>
                      <a:r>
                        <a:rPr lang="en-US" sz="1600" dirty="0" err="1"/>
                        <a:t>hh:mm:ss</a:t>
                      </a:r>
                      <a:r>
                        <a:rPr lang="en-US" sz="1600" dirty="0"/>
                        <a:t>).</a:t>
                      </a:r>
                    </a:p>
                  </a:txBody>
                  <a:tcPr marL="41050" marR="41050" marT="20525" marB="2052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'2025-03-03 14:30:00'</a:t>
                      </a:r>
                    </a:p>
                  </a:txBody>
                  <a:tcPr marL="38170" marR="38170" marT="19085" marB="1908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210633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1183743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0974E1-41C6-EDFE-6C87-8F4C79A79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ED814437-C727-1BD4-B304-317580459E93}"/>
              </a:ext>
            </a:extLst>
          </p:cNvPr>
          <p:cNvSpPr/>
          <p:nvPr/>
        </p:nvSpPr>
        <p:spPr>
          <a:xfrm>
            <a:off x="0" y="0"/>
            <a:ext cx="12192000" cy="843280"/>
          </a:xfrm>
          <a:prstGeom prst="rect">
            <a:avLst/>
          </a:prstGeom>
          <a:gradFill>
            <a:gsLst>
              <a:gs pos="0">
                <a:srgbClr val="008EF8"/>
              </a:gs>
              <a:gs pos="100000">
                <a:srgbClr val="5FBBFF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rtlCol="0" anchor="ctr"/>
          <a:lstStyle/>
          <a:p>
            <a:r>
              <a:rPr lang="en-US" sz="40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Lets create our first table</a:t>
            </a:r>
          </a:p>
        </p:txBody>
      </p:sp>
      <p:sp>
        <p:nvSpPr>
          <p:cNvPr id="117" name="Content Placeholder 4">
            <a:extLst>
              <a:ext uri="{FF2B5EF4-FFF2-40B4-BE49-F238E27FC236}">
                <a16:creationId xmlns:a16="http://schemas.microsoft.com/office/drawing/2014/main" id="{F1208C5E-7008-C2C6-8BE3-70B35CCAFC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1979" y="945574"/>
            <a:ext cx="11377818" cy="5694218"/>
          </a:xfrm>
          <a:solidFill>
            <a:srgbClr val="E7E7E7"/>
          </a:solidFill>
          <a:ln>
            <a:noFill/>
          </a:ln>
          <a:effectLst>
            <a:softEdge rad="0"/>
          </a:effectLst>
        </p:spPr>
        <p:txBody>
          <a:bodyPr lIns="182880" tIns="182880">
            <a:noAutofit/>
          </a:bodyPr>
          <a:lstStyle/>
          <a:p>
            <a:pPr>
              <a:tabLst>
                <a:tab pos="1489075" algn="l"/>
                <a:tab pos="1949450" algn="l"/>
                <a:tab pos="3036888" algn="l"/>
              </a:tabLst>
            </a:pPr>
            <a:r>
              <a:rPr lang="en-US" altLang="en-US" sz="2000" dirty="0"/>
              <a:t>An SQL relation is defined using the </a:t>
            </a:r>
            <a:r>
              <a:rPr lang="en-US" altLang="en-US" sz="2000" b="1" dirty="0"/>
              <a:t>create table </a:t>
            </a:r>
            <a:r>
              <a:rPr lang="en-US" altLang="en-US" sz="2000" dirty="0"/>
              <a:t>command:</a:t>
            </a:r>
          </a:p>
          <a:p>
            <a:pPr>
              <a:buFont typeface="Monotype Sorts" charset="2"/>
              <a:buNone/>
              <a:tabLst>
                <a:tab pos="1489075" algn="l"/>
                <a:tab pos="1949450" algn="l"/>
                <a:tab pos="3036888" algn="l"/>
              </a:tabLst>
            </a:pPr>
            <a:r>
              <a:rPr lang="en-US" altLang="en-US" sz="2000" dirty="0"/>
              <a:t>		</a:t>
            </a:r>
            <a:r>
              <a:rPr lang="en-US" altLang="en-US" sz="2000" b="1" dirty="0"/>
              <a:t>create table </a:t>
            </a:r>
            <a:r>
              <a:rPr lang="en-US" altLang="en-US" sz="2000" i="1" dirty="0"/>
              <a:t>r </a:t>
            </a:r>
          </a:p>
          <a:p>
            <a:pPr>
              <a:buFont typeface="Monotype Sorts" charset="2"/>
              <a:buNone/>
              <a:tabLst>
                <a:tab pos="1489075" algn="l"/>
                <a:tab pos="1949450" algn="l"/>
                <a:tab pos="3036888" algn="l"/>
              </a:tabLst>
            </a:pPr>
            <a:r>
              <a:rPr lang="en-US" altLang="en-US" sz="2000" i="1" dirty="0"/>
              <a:t>                                   </a:t>
            </a:r>
            <a:r>
              <a:rPr lang="en-US" altLang="en-US" sz="2000" dirty="0"/>
              <a:t>(</a:t>
            </a:r>
            <a:r>
              <a:rPr lang="en-US" altLang="en-US" sz="2000" i="1" dirty="0"/>
              <a:t>A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 </a:t>
            </a:r>
            <a:r>
              <a:rPr lang="en-US" altLang="en-US" sz="2000" i="1" dirty="0"/>
              <a:t>D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, </a:t>
            </a:r>
            <a:r>
              <a:rPr lang="en-US" altLang="en-US" sz="2000" i="1" dirty="0"/>
              <a:t>A</a:t>
            </a:r>
            <a:r>
              <a:rPr lang="en-US" altLang="en-US" sz="2000" baseline="-25000" dirty="0"/>
              <a:t>2</a:t>
            </a:r>
            <a:r>
              <a:rPr lang="en-US" altLang="en-US" sz="2000" dirty="0"/>
              <a:t> </a:t>
            </a:r>
            <a:r>
              <a:rPr lang="en-US" altLang="en-US" sz="2000" i="1" dirty="0"/>
              <a:t>D</a:t>
            </a:r>
            <a:r>
              <a:rPr lang="en-US" altLang="en-US" sz="2000" baseline="-25000" dirty="0"/>
              <a:t>2</a:t>
            </a:r>
            <a:r>
              <a:rPr lang="en-US" altLang="en-US" sz="2000" dirty="0"/>
              <a:t>, ..., </a:t>
            </a:r>
            <a:r>
              <a:rPr lang="en-US" altLang="en-US" sz="2000" i="1" dirty="0"/>
              <a:t>A</a:t>
            </a:r>
            <a:r>
              <a:rPr lang="en-US" altLang="en-US" sz="2000" i="1" baseline="-25000" dirty="0"/>
              <a:t>n</a:t>
            </a:r>
            <a:r>
              <a:rPr lang="en-US" altLang="en-US" sz="2000" i="1" dirty="0"/>
              <a:t> </a:t>
            </a:r>
            <a:r>
              <a:rPr lang="en-US" altLang="en-US" sz="2000" i="1" dirty="0" err="1"/>
              <a:t>D</a:t>
            </a:r>
            <a:r>
              <a:rPr lang="en-US" altLang="en-US" sz="2000" i="1" baseline="-25000" dirty="0" err="1"/>
              <a:t>n</a:t>
            </a:r>
            <a:r>
              <a:rPr lang="en-US" altLang="en-US" sz="2000" i="1" dirty="0"/>
              <a:t>,</a:t>
            </a:r>
            <a:br>
              <a:rPr lang="en-US" altLang="en-US" sz="2000" i="1" dirty="0"/>
            </a:br>
            <a:r>
              <a:rPr lang="en-US" altLang="en-US" sz="2000" i="1" dirty="0"/>
              <a:t>	             </a:t>
            </a:r>
            <a:r>
              <a:rPr lang="en-US" altLang="en-US" sz="2000" dirty="0"/>
              <a:t>(integrity-constraint</a:t>
            </a:r>
            <a:r>
              <a:rPr lang="en-US" altLang="en-US" sz="2000" baseline="-25000" dirty="0"/>
              <a:t>1</a:t>
            </a:r>
            <a:r>
              <a:rPr lang="en-US" altLang="en-US" sz="2000" dirty="0"/>
              <a:t>),</a:t>
            </a:r>
            <a:br>
              <a:rPr lang="en-US" altLang="en-US" sz="2000" dirty="0"/>
            </a:br>
            <a:r>
              <a:rPr lang="en-US" altLang="en-US" sz="2000" dirty="0"/>
              <a:t>	                 ...,</a:t>
            </a:r>
            <a:br>
              <a:rPr lang="en-US" altLang="en-US" sz="2000" dirty="0"/>
            </a:br>
            <a:r>
              <a:rPr lang="en-US" altLang="en-US" sz="2000" dirty="0"/>
              <a:t>                               (integrity-</a:t>
            </a:r>
            <a:r>
              <a:rPr lang="en-US" altLang="en-US" sz="2000" dirty="0" err="1"/>
              <a:t>constraint</a:t>
            </a:r>
            <a:r>
              <a:rPr lang="en-US" altLang="en-US" sz="2000" baseline="-25000" dirty="0" err="1"/>
              <a:t>k</a:t>
            </a:r>
            <a:r>
              <a:rPr lang="en-US" altLang="en-US" sz="2000" dirty="0"/>
              <a:t>))</a:t>
            </a:r>
          </a:p>
          <a:p>
            <a:pPr lvl="1">
              <a:tabLst>
                <a:tab pos="1489075" algn="l"/>
                <a:tab pos="1949450" algn="l"/>
                <a:tab pos="3036888" algn="l"/>
              </a:tabLst>
            </a:pPr>
            <a:r>
              <a:rPr lang="en-US" altLang="en-US" sz="2000" i="1" dirty="0"/>
              <a:t>r</a:t>
            </a:r>
            <a:r>
              <a:rPr lang="en-US" altLang="en-US" sz="2000" dirty="0"/>
              <a:t> is the name of the relation</a:t>
            </a:r>
          </a:p>
          <a:p>
            <a:pPr lvl="1">
              <a:tabLst>
                <a:tab pos="1489075" algn="l"/>
                <a:tab pos="1949450" algn="l"/>
                <a:tab pos="3036888" algn="l"/>
              </a:tabLst>
            </a:pPr>
            <a:r>
              <a:rPr lang="en-US" altLang="en-US" sz="2000" dirty="0"/>
              <a:t>each </a:t>
            </a:r>
            <a:r>
              <a:rPr lang="en-US" altLang="en-US" sz="2000" i="1" dirty="0"/>
              <a:t>A</a:t>
            </a:r>
            <a:r>
              <a:rPr lang="en-US" altLang="en-US" sz="2000" i="1" baseline="-25000" dirty="0"/>
              <a:t>i</a:t>
            </a:r>
            <a:r>
              <a:rPr lang="en-US" altLang="en-US" sz="2000" dirty="0"/>
              <a:t> is an attribute name in the schema of relation </a:t>
            </a:r>
            <a:r>
              <a:rPr lang="en-US" altLang="en-US" sz="2000" i="1" dirty="0"/>
              <a:t>r</a:t>
            </a:r>
          </a:p>
          <a:p>
            <a:pPr lvl="1">
              <a:tabLst>
                <a:tab pos="1489075" algn="l"/>
                <a:tab pos="1949450" algn="l"/>
                <a:tab pos="3036888" algn="l"/>
              </a:tabLst>
            </a:pPr>
            <a:r>
              <a:rPr lang="en-US" altLang="en-US" sz="2000" i="1" dirty="0"/>
              <a:t>D</a:t>
            </a:r>
            <a:r>
              <a:rPr lang="en-US" altLang="en-US" sz="2000" i="1" baseline="-25000" dirty="0"/>
              <a:t>i</a:t>
            </a:r>
            <a:r>
              <a:rPr lang="en-US" altLang="en-US" sz="2000" dirty="0"/>
              <a:t> is the data type of values in the domain of attribute </a:t>
            </a:r>
            <a:r>
              <a:rPr lang="en-US" altLang="en-US" sz="2000" i="1" dirty="0"/>
              <a:t>A</a:t>
            </a:r>
            <a:r>
              <a:rPr lang="en-US" altLang="en-US" sz="2000" i="1" baseline="-25000" dirty="0"/>
              <a:t>i</a:t>
            </a:r>
          </a:p>
          <a:p>
            <a:pPr marL="457200" lvl="1" indent="0">
              <a:buNone/>
              <a:tabLst>
                <a:tab pos="1489075" algn="l"/>
                <a:tab pos="1949450" algn="l"/>
                <a:tab pos="3036888" algn="l"/>
              </a:tabLst>
            </a:pPr>
            <a:endParaRPr lang="en-US" altLang="en-US" sz="2000" dirty="0"/>
          </a:p>
          <a:p>
            <a:pPr>
              <a:tabLst>
                <a:tab pos="1489075" algn="l"/>
                <a:tab pos="1949450" algn="l"/>
                <a:tab pos="3036888" algn="l"/>
              </a:tabLst>
            </a:pPr>
            <a:r>
              <a:rPr lang="en-US" altLang="en-US" sz="2000" dirty="0"/>
              <a:t>Example:</a:t>
            </a:r>
          </a:p>
          <a:p>
            <a:pPr>
              <a:buFont typeface="Monotype Sorts" charset="2"/>
              <a:buNone/>
              <a:tabLst>
                <a:tab pos="1489075" algn="l"/>
                <a:tab pos="1949450" algn="l"/>
                <a:tab pos="3036888" algn="l"/>
              </a:tabLst>
            </a:pPr>
            <a:r>
              <a:rPr lang="en-US" altLang="en-US" sz="2000" dirty="0"/>
              <a:t>		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D7E03B4-8BA3-5F5D-720C-6068F1FB08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0213" y="4564789"/>
            <a:ext cx="4575858" cy="19903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550353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34A9F9-E3DC-2152-369C-DB13471F2B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5AE4C1E-F0C9-440D-1D72-3AC62482322E}"/>
              </a:ext>
            </a:extLst>
          </p:cNvPr>
          <p:cNvSpPr/>
          <p:nvPr/>
        </p:nvSpPr>
        <p:spPr>
          <a:xfrm>
            <a:off x="0" y="0"/>
            <a:ext cx="12192000" cy="843280"/>
          </a:xfrm>
          <a:prstGeom prst="rect">
            <a:avLst/>
          </a:prstGeom>
          <a:gradFill>
            <a:gsLst>
              <a:gs pos="0">
                <a:srgbClr val="008EF8"/>
              </a:gs>
              <a:gs pos="100000">
                <a:srgbClr val="5FBBFF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rtlCol="0" anchor="ctr"/>
          <a:lstStyle/>
          <a:p>
            <a:r>
              <a:rPr lang="en-US" sz="40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Integrity constrains</a:t>
            </a:r>
          </a:p>
        </p:txBody>
      </p:sp>
      <p:sp>
        <p:nvSpPr>
          <p:cNvPr id="117" name="Content Placeholder 4">
            <a:extLst>
              <a:ext uri="{FF2B5EF4-FFF2-40B4-BE49-F238E27FC236}">
                <a16:creationId xmlns:a16="http://schemas.microsoft.com/office/drawing/2014/main" id="{10E7B178-7830-954F-9DD2-8F856FEBC2E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1979" y="945574"/>
            <a:ext cx="5494021" cy="5694218"/>
          </a:xfrm>
          <a:solidFill>
            <a:srgbClr val="E7E7E7"/>
          </a:solidFill>
          <a:ln>
            <a:noFill/>
          </a:ln>
          <a:effectLst>
            <a:softEdge rad="0"/>
          </a:effectLst>
        </p:spPr>
        <p:txBody>
          <a:bodyPr lIns="182880" tIns="182880">
            <a:noAutofit/>
          </a:bodyPr>
          <a:lstStyle/>
          <a:p>
            <a:pPr>
              <a:tabLst>
                <a:tab pos="1489075" algn="l"/>
                <a:tab pos="1949450" algn="l"/>
                <a:tab pos="3036888" algn="l"/>
              </a:tabLst>
            </a:pPr>
            <a:r>
              <a:rPr lang="en-US" altLang="en-US" sz="2000" dirty="0"/>
              <a:t>Primary key</a:t>
            </a:r>
          </a:p>
          <a:p>
            <a:pPr>
              <a:tabLst>
                <a:tab pos="1489075" algn="l"/>
                <a:tab pos="1949450" algn="l"/>
                <a:tab pos="3036888" algn="l"/>
              </a:tabLst>
            </a:pPr>
            <a:r>
              <a:rPr lang="en-US" altLang="en-US" sz="2000" dirty="0"/>
              <a:t>Foreign key</a:t>
            </a:r>
          </a:p>
          <a:p>
            <a:pPr>
              <a:tabLst>
                <a:tab pos="1489075" algn="l"/>
                <a:tab pos="1949450" algn="l"/>
                <a:tab pos="3036888" algn="l"/>
              </a:tabLst>
            </a:pPr>
            <a:r>
              <a:rPr lang="en-US" altLang="en-US" sz="2000" dirty="0"/>
              <a:t>Unique </a:t>
            </a:r>
          </a:p>
          <a:p>
            <a:pPr>
              <a:tabLst>
                <a:tab pos="1489075" algn="l"/>
                <a:tab pos="1949450" algn="l"/>
                <a:tab pos="3036888" algn="l"/>
              </a:tabLst>
            </a:pPr>
            <a:r>
              <a:rPr lang="en-US" altLang="en-US" sz="2000" dirty="0"/>
              <a:t>Check</a:t>
            </a:r>
          </a:p>
          <a:p>
            <a:pPr>
              <a:tabLst>
                <a:tab pos="1489075" algn="l"/>
                <a:tab pos="1949450" algn="l"/>
                <a:tab pos="3036888" algn="l"/>
              </a:tabLst>
            </a:pPr>
            <a:r>
              <a:rPr lang="en-US" altLang="en-US" sz="2000" dirty="0"/>
              <a:t>Not null		</a:t>
            </a: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50ECC1-3413-D652-949B-325EEC38AE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1789" y="945574"/>
            <a:ext cx="5796639" cy="29025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22FACCE-20ED-3DDF-A77F-F3293E7E493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1789" y="4441077"/>
            <a:ext cx="5796639" cy="1993909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14117C6-4340-3956-5C36-EB55F8C7AB6E}"/>
              </a:ext>
            </a:extLst>
          </p:cNvPr>
          <p:cNvSpPr txBox="1"/>
          <p:nvPr/>
        </p:nvSpPr>
        <p:spPr>
          <a:xfrm>
            <a:off x="6241789" y="4056646"/>
            <a:ext cx="40595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For simple constraints you can do this:</a:t>
            </a:r>
          </a:p>
        </p:txBody>
      </p:sp>
    </p:spTree>
    <p:extLst>
      <p:ext uri="{BB962C8B-B14F-4D97-AF65-F5344CB8AC3E}">
        <p14:creationId xmlns:p14="http://schemas.microsoft.com/office/powerpoint/2010/main" val="2617384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2A6CC0-FB3A-C9F1-A4CD-1A00B242BF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6977751E-C1E8-BFE2-CEF9-3EFD8310219D}"/>
              </a:ext>
            </a:extLst>
          </p:cNvPr>
          <p:cNvSpPr/>
          <p:nvPr/>
        </p:nvSpPr>
        <p:spPr>
          <a:xfrm>
            <a:off x="0" y="0"/>
            <a:ext cx="12192000" cy="843280"/>
          </a:xfrm>
          <a:prstGeom prst="rect">
            <a:avLst/>
          </a:prstGeom>
          <a:gradFill>
            <a:gsLst>
              <a:gs pos="0">
                <a:srgbClr val="008EF8"/>
              </a:gs>
              <a:gs pos="100000">
                <a:srgbClr val="5FBBFF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rtlCol="0" anchor="ctr"/>
          <a:lstStyle/>
          <a:p>
            <a:r>
              <a:rPr lang="en-US" sz="40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Alter table</a:t>
            </a:r>
          </a:p>
        </p:txBody>
      </p:sp>
      <p:sp>
        <p:nvSpPr>
          <p:cNvPr id="117" name="Content Placeholder 4">
            <a:extLst>
              <a:ext uri="{FF2B5EF4-FFF2-40B4-BE49-F238E27FC236}">
                <a16:creationId xmlns:a16="http://schemas.microsoft.com/office/drawing/2014/main" id="{05BF46A1-D8C4-07C0-A929-1EDE2BDDC14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01979" y="945574"/>
            <a:ext cx="11285221" cy="5694218"/>
          </a:xfrm>
          <a:solidFill>
            <a:srgbClr val="E7E7E7"/>
          </a:solidFill>
          <a:ln>
            <a:noFill/>
          </a:ln>
          <a:effectLst>
            <a:softEdge rad="0"/>
          </a:effectLst>
        </p:spPr>
        <p:txBody>
          <a:bodyPr lIns="182880" tIns="182880" numCol="2">
            <a:noAutofit/>
          </a:bodyPr>
          <a:lstStyle/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 a New Column</a:t>
            </a:r>
          </a:p>
          <a:p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Modify an Existing Column (Increase name Size)</a:t>
            </a:r>
          </a:p>
          <a:p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Drop an Existing Column (</a:t>
            </a:r>
            <a:r>
              <a:rPr lang="en-US" sz="2000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hire_date</a:t>
            </a: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 </a:t>
            </a:r>
          </a:p>
          <a:p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0" indent="0">
              <a:buNone/>
            </a:pP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Add a New NOT NULL Constraint (salary) </a:t>
            </a:r>
          </a:p>
          <a:p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much more ….. </a:t>
            </a:r>
          </a:p>
          <a:p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Mainly you are modifying the structure ( rename, datatypes, domains, …. )</a:t>
            </a:r>
          </a:p>
          <a:p>
            <a:pPr marL="0" indent="0">
              <a:buNone/>
            </a:pPr>
            <a:endParaRPr lang="en-US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592F0F9-0F29-0306-8748-B717D0B3C7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140" y="1471070"/>
            <a:ext cx="4800600" cy="1290161"/>
          </a:xfrm>
          <a:prstGeom prst="rect">
            <a:avLst/>
          </a:prstGeom>
        </p:spPr>
      </p:pic>
      <p:sp>
        <p:nvSpPr>
          <p:cNvPr id="6" name="Rectangle 1">
            <a:extLst>
              <a:ext uri="{FF2B5EF4-FFF2-40B4-BE49-F238E27FC236}">
                <a16:creationId xmlns:a16="http://schemas.microsoft.com/office/drawing/2014/main" id="{9138F9E3-5C1A-95BD-15C5-5D81FC5028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Rectangle 2">
            <a:extLst>
              <a:ext uri="{FF2B5EF4-FFF2-40B4-BE49-F238E27FC236}">
                <a16:creationId xmlns:a16="http://schemas.microsoft.com/office/drawing/2014/main" id="{42BF555A-8536-6453-14DB-D3DF17126C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67DBB96C-7A99-6BA0-1947-ACF8DBAFF1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184666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0E8B5EE-DD27-CEC8-DABF-34A92DB24B1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3140" y="5357659"/>
            <a:ext cx="4770727" cy="128213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8C3C57D-CBED-5D14-5C96-D27EF5F990A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388262" y="1489445"/>
            <a:ext cx="4770728" cy="1253409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4F9A02C-F576-DF1A-E69B-0FB3947AC0A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33013" y="3455703"/>
            <a:ext cx="4770727" cy="12821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5342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7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568433-A78B-1D52-D787-3F8B4C869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35898CF-B67F-6D4A-37E0-E189FAC719CD}"/>
              </a:ext>
            </a:extLst>
          </p:cNvPr>
          <p:cNvSpPr/>
          <p:nvPr/>
        </p:nvSpPr>
        <p:spPr>
          <a:xfrm>
            <a:off x="0" y="0"/>
            <a:ext cx="12192000" cy="843280"/>
          </a:xfrm>
          <a:prstGeom prst="rect">
            <a:avLst/>
          </a:prstGeom>
          <a:gradFill>
            <a:gsLst>
              <a:gs pos="0">
                <a:srgbClr val="008EF8"/>
              </a:gs>
              <a:gs pos="100000">
                <a:srgbClr val="5FBBFF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48640" rtlCol="0" anchor="ctr"/>
          <a:lstStyle/>
          <a:p>
            <a:r>
              <a:rPr lang="en-US" sz="40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University Schema diagram ( practice DDL )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72901467-678A-8155-1464-570DBE5AF0E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629681" y="1035331"/>
            <a:ext cx="9389838" cy="56255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83416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2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0385E356-1F37-43D7-AF19-FD9009245A5C}">
  <we:reference id="wa104381909" version="3.12.0.0" store="en-US" storeType="OMEX"/>
  <we:alternateReferences>
    <we:reference id="wa104381909" version="3.12.0.0" store="en-US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10052</TotalTime>
  <Words>1402</Words>
  <Application>Microsoft Office PowerPoint</Application>
  <PresentationFormat>Widescreen</PresentationFormat>
  <Paragraphs>229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9" baseType="lpstr">
      <vt:lpstr>Aptos</vt:lpstr>
      <vt:lpstr>Aptos Display</vt:lpstr>
      <vt:lpstr>Arial</vt:lpstr>
      <vt:lpstr>Calibri</vt:lpstr>
      <vt:lpstr>Lucida Sans</vt:lpstr>
      <vt:lpstr>Monotype Sorts</vt:lpstr>
      <vt:lpstr>Times New Roman</vt:lpstr>
      <vt:lpstr>Office Theme</vt:lpstr>
      <vt:lpstr>Section 3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AbdElrahman Ahmed Rabea</dc:creator>
  <cp:lastModifiedBy>AbdElrahman Ahmed Rabea</cp:lastModifiedBy>
  <cp:revision>138</cp:revision>
  <dcterms:created xsi:type="dcterms:W3CDTF">2024-10-08T16:38:53Z</dcterms:created>
  <dcterms:modified xsi:type="dcterms:W3CDTF">2025-03-08T15:36:51Z</dcterms:modified>
</cp:coreProperties>
</file>